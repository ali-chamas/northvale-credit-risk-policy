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a18e78c8-f5cd-bd0f-7320-9aa95c52919c}">
          <p14:sldIdLst>
            <p14:sldId id="257"/>
          </p14:sldIdLst>
        </p14:section>
        <p14:section name="Default-1" id="{da35ebdb-e9c3-00ad-0ce3-d2d12e70fda6}">
          <p14:sldIdLst>
            <p14:sldId id="258"/>
            <p14:sldId id="259"/>
          </p14:sldIdLst>
        </p14:section>
        <p14:section name="Findings" id="{a9c3ab59-1992-a0d0-ada0-720d25849493}">
          <p14:sldIdLst>
            <p14:sldId id="260"/>
          </p14:sldIdLst>
        </p14:section>
        <p14:section name="Default-2" id="{dc0a292b-acad-0ab0-d841-d34d346166f6}">
          <p14:sldIdLst>
            <p14:sldId id="261"/>
            <p14:sldId id="262"/>
            <p14:sldId id="263"/>
          </p14:sldIdLst>
        </p14:section>
        <p14:section name="Recommendation" id="{896c3a66-7ad5-0b97-5b33-f90460488d66}">
          <p14:sldIdLst>
            <p14:sldId id="264"/>
          </p14:sldIdLst>
        </p14:section>
        <p14:section name="Default-3" id="{9d68e60d-3c77-2be9-f3d0-38e93099e6bd}">
          <p14:sldIdLst>
            <p14:sldId id="265"/>
            <p14:sldId id="266"/>
          </p14:sldIdLst>
        </p14:section>
        <p14:section name="Appendix" id="{f2c7b406-3f8b-b356-0309-5dd57cc7216f}">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Northvale Credit is a fictional digital lender I invented to frame this project; the data is the public Lending Club loan book. The credit committee's question: design an approval policy that cuts losses without killing loan volume. I will show why the current grade-based rules are outdated, how I built and audited a default model, and the cutoff I recommend with its projected impact. Every number in this deck is generated by code from one metrics file, so it can be rerun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default rate climbed from 12.3% for 2013 loans to 14.9% for 2015 loans. I split that change: the grade mix actually moved slightly toward safer grades (-0.6 pp), so the whole rise (+3.1 pp) comes from loans inside the same grade defaulting more. A grade C loan defaulted 19.4% of the time in 2015 against 15.3% in 2013, and it was priced lower. That is why rules written on grades are outdated: the letter no longer means the same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Lending Club's file stops at the end of 2018, so recent loans have not finished. If I kept only the finished ones, early defaults and early payoffs would be over-represented. I therefore scoped to 36-month loans issued 2012 to 2015: 0.02% are unresolved, against 28% for 2016. That leaves 589,249 loans. The split is out-of-time: models learn on 2012-2014, are tuned on the first half of 2015 and are tested once on the second half, the way they would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Scope the data so outcomes are complete. Audit every raw column so the model only sees what a lender knows on the day it decides. Compare three rankers: Lending Club's own sub-grade as the incumbent, a classic weight-of-evidence scorecard, and LightGBM. Explain the chosen model with SHAP so every decline has reasons. Finally, translate default probabilities into money and let expected profit, not AUC, pick the cutoff, then check it on loans the models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default rate by grade for the 2013 and 2015 vintages: every grade got riskier, grade E went from 23.3% to 32.8%. Right, the average interest rate by grade fell over the same period. So a rule like 'decline grades E to G' approves more risk for less return than it did when it was written. Northvale needs its own risk measure that does not depend on how Lending Club labels a loan.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151 raw columns has a documented keep or drop decision. A single-column screen shows the danger: 9 columns separate defaults better than any real application field, and every one of them is recorded after the loan is issued, such as payments received or a FICO score pulled later. Retraining with the refreshed FICO lifts test AUC from 0.70 to 0.95: a model that looks brilliant and is useless on the day of the decision. Grade and interest rate are also excluded as features because they are the incumbent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untouched test window LightGBM reaches an AUC of 0.701, against 0.681 for Lending Club's own sub-grade and 0.675 for my scorecard. The gain looks small in AUC, but the chart shows what it means: inside grade C, the fifth of applicants LightGBM rates safest defaulted 12.1%, the riskiest fifth 29.9%. The grade treats them the same. After recalibration on early 2015 the predicted default rate matches the observed one within 0.1 pp, which matters because the cutoff is set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shows which inputs move the score. FICO matters most, then the loan amount relative to income, accounts opened in the last 24 months and debt-to-income. On the right, one test applicant Lending Club graded A5: the model puts the default probability at 34.6% because of a FICO of 667 and 7 accounts opened in two years. These contributions become reason codes in plain English, which is what an adverse-action notice under US ECOA requires and what the EU AI Act expects from a high-risk credit scoring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options, all chosen on early 2015 data and judged on late 2015 loans. The conservative cutoff maximises expected profit but gives up 16% of dollar volume. I recommend the balanced option: it keeps 91% of applicants, as the committee asked, cuts the default rate from 14.7% to 12.8% and adds $13.8M of realized profit in six months. The growth option is the fallback if volume targets tighten. Because we only see loans Lending Club approved, every option tightens; none can safely approve new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Approving every test loan returned -$1.1M after funding and operating costs: Northvale barely breaks even. With the balanced cutoff the same book returns $12.7M. Annualised by doubling the six-month window, that is $27.6M a year and $52.1M of credit losses avoided. At the approval rate of a 'decline D to G' grade rule, LightGBM earns $16.6M against $7.9M. These are projections under stated cost assumptions, measured on historical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limit: Lending Club only publishes loans it approved, so I cannot measure how rejected applicants would have behaved. That is why every option tightens. Losses on 2015 defaults also ran above the 2012-2014 calibration, 39.4% against 35.9%, so expected profit is optimistic and I report realized cash instead. Next, I would run the model as a challenger on live traffic, re-price the highest rate band, and monitor population stability and vintage curves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questions on method. The key choices: an out-of-time split instead of a random one, a documented audit of every column, recalibration on the most recent window, and a cutoff chosen on validation data by expected profit and checked once on test loans. The scorecard is the transparent fallback if LightGBM is not accepted. The repository reproduces every number in this deck with one command, make all, from the raw Kaggle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960120"/>
          </a:xfrm>
          <a:prstGeom prst="rect">
            <a:avLst/>
          </a:prstGeom>
          <a:noFill/>
          <a:ln/>
        </p:spPr>
        <p:txBody>
          <a:bodyPr wrap="square" rtlCol="0"/>
          <a:lstStyle>
            <a:lvl1pPr algn="l" indent="0" marL="0">
              <a:buNone/>
              <a:defRPr lang="en-US" sz="2600" b="1" dirty="0">
                <a:solidFill>
                  <a:srgbClr val="1A1A1A"/>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6F6E69"/>
                </a:solidFill>
                <a:latin typeface="Arial" pitchFamily="34" charset="0"/>
                <a:ea typeface="Arial" pitchFamily="34" charset="-122"/>
                <a:cs typeface="Arial" pitchFamily="34" charset="-120"/>
              </a:rPr>
              <a:t>Northvale Credit  ·  Fictional case study on public Lending Club data</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E22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10241280" cy="146304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10058400" cy="320040"/>
          </a:xfrm>
          <a:prstGeom prst="rect">
            <a:avLst/>
          </a:prstGeom>
          <a:noFill/>
          <a:ln/>
        </p:spPr>
        <p:txBody>
          <a:bodyPr wrap="square" lIns="0" tIns="0" rIns="0" bIns="0" rtlCol="0" anchor="t"/>
          <a:lstStyle/>
          <a:p>
            <a:pPr indent="0" marL="0">
              <a:buNone/>
            </a:pPr>
            <a:r>
              <a:rPr lang="en-US" sz="1300" b="1" spc="200" kern="0" dirty="0">
                <a:solidFill>
                  <a:srgbClr val="2A78D6"/>
                </a:solidFill>
                <a:latin typeface="Arial" pitchFamily="34" charset="0"/>
                <a:ea typeface="Arial" pitchFamily="34" charset="-122"/>
                <a:cs typeface="Arial" pitchFamily="34" charset="-120"/>
              </a:rPr>
              <a:t>CREDIT RISK CASE STUDY</a:t>
            </a:r>
            <a:endParaRPr lang="en-US" sz="1300" dirty="0"/>
          </a:p>
        </p:txBody>
      </p:sp>
      <p:sp>
        <p:nvSpPr>
          <p:cNvPr id="3" name="Text 0"/>
          <p:cNvSpPr/>
          <p:nvPr>
            <p:ph idx="100" type="title" hasCustomPrompt="1"/>
          </p:nvPr>
        </p:nvSpPr>
        <p:spPr>
          <a:xfrm>
            <a:off x="548640" y="1874520"/>
            <a:ext cx="10241280" cy="1463040"/>
          </a:xfrm>
          <a:prstGeom prst="rect">
            <a:avLst/>
          </a:prstGeom>
          <a:noFill/>
          <a:ln/>
        </p:spPr>
        <p:txBody>
          <a:bodyPr wrap="square" lIns="0" tIns="0" rIns="0" bIns="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An approval policy that cuts losses and keeps 91% of volume</a:t>
            </a:r>
            <a:endParaRPr lang="en-US" sz="4400" dirty="0"/>
          </a:p>
        </p:txBody>
      </p:sp>
      <p:sp>
        <p:nvSpPr>
          <p:cNvPr id="4" name="Text 2"/>
          <p:cNvSpPr txBox="1"/>
          <p:nvPr/>
        </p:nvSpPr>
        <p:spPr>
          <a:xfrm>
            <a:off x="548640" y="3429000"/>
            <a:ext cx="9875520" cy="1005840"/>
          </a:xfrm>
          <a:prstGeom prst="rect">
            <a:avLst/>
          </a:prstGeom>
          <a:noFill/>
          <a:ln/>
        </p:spPr>
        <p:txBody>
          <a:bodyPr wrap="square" lIns="0" tIns="0" rIns="0" bIns="0" rtlCol="0" anchor="t"/>
          <a:lstStyle/>
          <a:p>
            <a:pPr indent="0" marL="0">
              <a:buNone/>
            </a:pPr>
            <a:r>
              <a:rPr lang="en-US" sz="2000" dirty="0">
                <a:solidFill>
                  <a:srgbClr val="DCE6F2"/>
                </a:solidFill>
                <a:latin typeface="Arial" pitchFamily="34" charset="0"/>
                <a:ea typeface="Arial" pitchFamily="34" charset="-122"/>
                <a:cs typeface="Arial" pitchFamily="34" charset="-120"/>
              </a:rPr>
              <a:t>Default model, profit-driven cutoff and a policy simulator, built on 589k resolved Lending Club loans</a:t>
            </a:r>
            <a:endParaRPr lang="en-US" sz="2000" dirty="0"/>
          </a:p>
        </p:txBody>
      </p:sp>
      <p:sp>
        <p:nvSpPr>
          <p:cNvPr id="5" name="Disclaimer panel"/>
          <p:cNvSpPr/>
          <p:nvPr/>
        </p:nvSpPr>
        <p:spPr>
          <a:xfrm>
            <a:off x="548640" y="4709160"/>
            <a:ext cx="7863840" cy="566928"/>
          </a:xfrm>
          <a:prstGeom prst="roundRect">
            <a:avLst>
              <a:gd name="adj" fmla="val 16129"/>
            </a:avLst>
          </a:prstGeom>
          <a:solidFill>
            <a:srgbClr val="1D3753"/>
          </a:solidFill>
          <a:ln w="12700">
            <a:solidFill>
              <a:srgbClr val="1D3753"/>
            </a:solidFill>
            <a:prstDash val="solid"/>
          </a:ln>
        </p:spPr>
      </p:sp>
      <p:sp>
        <p:nvSpPr>
          <p:cNvPr id="6" name="Text 4"/>
          <p:cNvSpPr txBox="1"/>
          <p:nvPr/>
        </p:nvSpPr>
        <p:spPr>
          <a:xfrm>
            <a:off x="777240" y="4709160"/>
            <a:ext cx="7498080" cy="566928"/>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Case study: Northvale Credit is a fictional lender. Built on public Lending Club data for learning purposes.</a:t>
            </a:r>
            <a:endParaRPr lang="en-US" sz="1250" dirty="0"/>
          </a:p>
        </p:txBody>
      </p:sp>
      <p:sp>
        <p:nvSpPr>
          <p:cNvPr id="7" name="Text 5"/>
          <p:cNvSpPr txBox="1"/>
          <p:nvPr/>
        </p:nvSpPr>
        <p:spPr>
          <a:xfrm>
            <a:off x="548640" y="5897880"/>
            <a:ext cx="10058400" cy="365760"/>
          </a:xfrm>
          <a:prstGeom prst="rect">
            <a:avLst/>
          </a:prstGeom>
          <a:noFill/>
          <a:ln/>
        </p:spPr>
        <p:txBody>
          <a:bodyPr wrap="square" lIns="0" tIns="0" rIns="0" bIns="0" rtlCol="0" anchor="t"/>
          <a:lstStyle/>
          <a:p>
            <a:pPr indent="0" marL="0">
              <a:buNone/>
            </a:pPr>
            <a:r>
              <a:rPr lang="en-US" sz="1300" dirty="0">
                <a:solidFill>
                  <a:srgbClr val="93A4B8"/>
                </a:solidFill>
                <a:latin typeface="Arial" pitchFamily="34" charset="0"/>
                <a:ea typeface="Arial" pitchFamily="34" charset="-122"/>
                <a:cs typeface="Arial" pitchFamily="34" charset="-120"/>
              </a:rPr>
              <a:t>Ali Chamas  ·  MSc Digital Business &amp; Analytics, EMLV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THE PROBLEM</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Default rates rose from 12.3% to 14.9% between the 2013 and 2015 vintages</a:t>
            </a:r>
            <a:endParaRPr lang="en-US" sz="2600" dirty="0"/>
          </a:p>
        </p:txBody>
      </p:sp>
      <p:sp>
        <p:nvSpPr>
          <p:cNvPr id="4" name="Text 2"/>
          <p:cNvSpPr txBox="1"/>
          <p:nvPr/>
        </p:nvSpPr>
        <p:spPr>
          <a:xfrm>
            <a:off x="548640" y="1783080"/>
            <a:ext cx="11094415" cy="777240"/>
          </a:xfrm>
          <a:prstGeom prst="rect">
            <a:avLst/>
          </a:prstGeom>
          <a:noFill/>
          <a:ln/>
        </p:spPr>
        <p:txBody>
          <a:bodyPr wrap="square" lIns="0" tIns="0" rIns="0" bIns="0" rtlCol="0" anchor="t"/>
          <a:lstStyle/>
          <a:p>
            <a:pPr indent="0" marL="0">
              <a:buNone/>
            </a:pPr>
            <a:r>
              <a:rPr lang="en-US" sz="1600" dirty="0">
                <a:solidFill>
                  <a:srgbClr val="52514E"/>
                </a:solidFill>
                <a:latin typeface="Arial" pitchFamily="34" charset="0"/>
                <a:ea typeface="Arial" pitchFamily="34" charset="-122"/>
                <a:cs typeface="Arial" pitchFamily="34" charset="-120"/>
              </a:rPr>
              <a:t>The credit committee asked for an approval policy that cuts expected losses without killing loan volume.</a:t>
            </a:r>
            <a:endParaRPr lang="en-US" sz="1600" dirty="0"/>
          </a:p>
        </p:txBody>
      </p:sp>
      <p:sp>
        <p:nvSpPr>
          <p:cNvPr id="5" name="Stat 1"/>
          <p:cNvSpPr/>
          <p:nvPr/>
        </p:nvSpPr>
        <p:spPr>
          <a:xfrm>
            <a:off x="548640" y="2743200"/>
            <a:ext cx="3515258" cy="2651760"/>
          </a:xfrm>
          <a:prstGeom prst="roundRect">
            <a:avLst>
              <a:gd name="adj" fmla="val 2759"/>
            </a:avLst>
          </a:prstGeom>
          <a:solidFill>
            <a:srgbClr val="F3F5F8"/>
          </a:solidFill>
          <a:ln w="12700">
            <a:solidFill>
              <a:srgbClr val="F3F5F8"/>
            </a:solidFill>
            <a:prstDash val="solid"/>
          </a:ln>
        </p:spPr>
      </p:sp>
      <p:sp>
        <p:nvSpPr>
          <p:cNvPr id="6" name="Text 4"/>
          <p:cNvSpPr txBox="1"/>
          <p:nvPr/>
        </p:nvSpPr>
        <p:spPr>
          <a:xfrm>
            <a:off x="822960" y="3017520"/>
            <a:ext cx="2966618" cy="868680"/>
          </a:xfrm>
          <a:prstGeom prst="rect">
            <a:avLst/>
          </a:prstGeom>
          <a:noFill/>
          <a:ln/>
        </p:spPr>
        <p:txBody>
          <a:bodyPr wrap="square" lIns="0" tIns="0" rIns="0" bIns="0" rtlCol="0" anchor="t"/>
          <a:lstStyle/>
          <a:p>
            <a:pPr indent="0" marL="0">
              <a:buNone/>
            </a:pPr>
            <a:r>
              <a:rPr lang="en-US" sz="4400" b="1" dirty="0">
                <a:solidFill>
                  <a:srgbClr val="2A78D6"/>
                </a:solidFill>
                <a:latin typeface="Arial" pitchFamily="34" charset="0"/>
                <a:ea typeface="Arial" pitchFamily="34" charset="-122"/>
                <a:cs typeface="Arial" pitchFamily="34" charset="-120"/>
              </a:rPr>
              <a:t>14.9%</a:t>
            </a:r>
            <a:endParaRPr lang="en-US" sz="4400" dirty="0"/>
          </a:p>
        </p:txBody>
      </p:sp>
      <p:sp>
        <p:nvSpPr>
          <p:cNvPr id="7" name="Text 5"/>
          <p:cNvSpPr txBox="1"/>
          <p:nvPr/>
        </p:nvSpPr>
        <p:spPr>
          <a:xfrm>
            <a:off x="822960" y="3931920"/>
            <a:ext cx="2966618" cy="68580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2015 vintage default rate</a:t>
            </a:r>
            <a:endParaRPr lang="en-US" sz="1500" dirty="0"/>
          </a:p>
        </p:txBody>
      </p:sp>
      <p:sp>
        <p:nvSpPr>
          <p:cNvPr id="8" name="Text 6"/>
          <p:cNvSpPr txBox="1"/>
          <p:nvPr/>
        </p:nvSpPr>
        <p:spPr>
          <a:xfrm>
            <a:off x="822960" y="4572000"/>
            <a:ext cx="2966618" cy="731520"/>
          </a:xfrm>
          <a:prstGeom prst="rect">
            <a:avLst/>
          </a:prstGeom>
          <a:noFill/>
          <a:ln/>
        </p:spPr>
        <p:txBody>
          <a:bodyPr wrap="square" lIns="0" tIns="0" rIns="0" bIns="0" rtlCol="0" anchor="t"/>
          <a:lstStyle/>
          <a:p>
            <a:pPr indent="0" marL="0">
              <a:buNone/>
            </a:pPr>
            <a:r>
              <a:rPr lang="en-US" sz="1200" dirty="0">
                <a:solidFill>
                  <a:srgbClr val="52514E"/>
                </a:solidFill>
                <a:latin typeface="Arial" pitchFamily="34" charset="0"/>
                <a:ea typeface="Arial" pitchFamily="34" charset="-122"/>
                <a:cs typeface="Arial" pitchFamily="34" charset="-120"/>
              </a:rPr>
              <a:t>36-month loans, up +2.6 pp from 12.3% in 2013</a:t>
            </a:r>
            <a:endParaRPr lang="en-US" sz="1200" dirty="0"/>
          </a:p>
        </p:txBody>
      </p:sp>
      <p:sp>
        <p:nvSpPr>
          <p:cNvPr id="9" name="Stat 2"/>
          <p:cNvSpPr/>
          <p:nvPr/>
        </p:nvSpPr>
        <p:spPr>
          <a:xfrm>
            <a:off x="4338218" y="2743200"/>
            <a:ext cx="3515258" cy="2651760"/>
          </a:xfrm>
          <a:prstGeom prst="roundRect">
            <a:avLst>
              <a:gd name="adj" fmla="val 2759"/>
            </a:avLst>
          </a:prstGeom>
          <a:solidFill>
            <a:srgbClr val="F3F5F8"/>
          </a:solidFill>
          <a:ln w="12700">
            <a:solidFill>
              <a:srgbClr val="F3F5F8"/>
            </a:solidFill>
            <a:prstDash val="solid"/>
          </a:ln>
        </p:spPr>
      </p:sp>
      <p:sp>
        <p:nvSpPr>
          <p:cNvPr id="10" name="Text 8"/>
          <p:cNvSpPr txBox="1"/>
          <p:nvPr/>
        </p:nvSpPr>
        <p:spPr>
          <a:xfrm>
            <a:off x="4612538" y="3017520"/>
            <a:ext cx="2966618" cy="868680"/>
          </a:xfrm>
          <a:prstGeom prst="rect">
            <a:avLst/>
          </a:prstGeom>
          <a:noFill/>
          <a:ln/>
        </p:spPr>
        <p:txBody>
          <a:bodyPr wrap="square" lIns="0" tIns="0" rIns="0" bIns="0" rtlCol="0" anchor="t"/>
          <a:lstStyle/>
          <a:p>
            <a:pPr indent="0" marL="0">
              <a:buNone/>
            </a:pPr>
            <a:r>
              <a:rPr lang="en-US" sz="4400" b="1" dirty="0">
                <a:solidFill>
                  <a:srgbClr val="2A78D6"/>
                </a:solidFill>
                <a:latin typeface="Arial" pitchFamily="34" charset="0"/>
                <a:ea typeface="Arial" pitchFamily="34" charset="-122"/>
                <a:cs typeface="Arial" pitchFamily="34" charset="-120"/>
              </a:rPr>
              <a:t>+3.1 pp</a:t>
            </a:r>
            <a:endParaRPr lang="en-US" sz="4400" dirty="0"/>
          </a:p>
        </p:txBody>
      </p:sp>
      <p:sp>
        <p:nvSpPr>
          <p:cNvPr id="11" name="Text 9"/>
          <p:cNvSpPr txBox="1"/>
          <p:nvPr/>
        </p:nvSpPr>
        <p:spPr>
          <a:xfrm>
            <a:off x="4612538" y="3931920"/>
            <a:ext cx="2966618" cy="68580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from risk within grades</a:t>
            </a:r>
            <a:endParaRPr lang="en-US" sz="1500" dirty="0"/>
          </a:p>
        </p:txBody>
      </p:sp>
      <p:sp>
        <p:nvSpPr>
          <p:cNvPr id="12" name="Text 10"/>
          <p:cNvSpPr txBox="1"/>
          <p:nvPr/>
        </p:nvSpPr>
        <p:spPr>
          <a:xfrm>
            <a:off x="4612538" y="4572000"/>
            <a:ext cx="2966618" cy="731520"/>
          </a:xfrm>
          <a:prstGeom prst="rect">
            <a:avLst/>
          </a:prstGeom>
          <a:noFill/>
          <a:ln/>
        </p:spPr>
        <p:txBody>
          <a:bodyPr wrap="square" lIns="0" tIns="0" rIns="0" bIns="0" rtlCol="0" anchor="t"/>
          <a:lstStyle/>
          <a:p>
            <a:pPr indent="0" marL="0">
              <a:buNone/>
            </a:pPr>
            <a:r>
              <a:rPr lang="en-US" sz="1200" dirty="0">
                <a:solidFill>
                  <a:srgbClr val="52514E"/>
                </a:solidFill>
                <a:latin typeface="Arial" pitchFamily="34" charset="0"/>
                <a:ea typeface="Arial" pitchFamily="34" charset="-122"/>
                <a:cs typeface="Arial" pitchFamily="34" charset="-120"/>
              </a:rPr>
              <a:t>Grade mix alone moved it -0.6 pp; loans within each grade got riskier</a:t>
            </a:r>
            <a:endParaRPr lang="en-US" sz="1200" dirty="0"/>
          </a:p>
        </p:txBody>
      </p:sp>
      <p:sp>
        <p:nvSpPr>
          <p:cNvPr id="13" name="Stat 3"/>
          <p:cNvSpPr/>
          <p:nvPr/>
        </p:nvSpPr>
        <p:spPr>
          <a:xfrm>
            <a:off x="8127797" y="2743200"/>
            <a:ext cx="3515258" cy="2651760"/>
          </a:xfrm>
          <a:prstGeom prst="roundRect">
            <a:avLst>
              <a:gd name="adj" fmla="val 2759"/>
            </a:avLst>
          </a:prstGeom>
          <a:solidFill>
            <a:srgbClr val="F3F5F8"/>
          </a:solidFill>
          <a:ln w="12700">
            <a:solidFill>
              <a:srgbClr val="F3F5F8"/>
            </a:solidFill>
            <a:prstDash val="solid"/>
          </a:ln>
        </p:spPr>
      </p:sp>
      <p:sp>
        <p:nvSpPr>
          <p:cNvPr id="14" name="Text 12"/>
          <p:cNvSpPr txBox="1"/>
          <p:nvPr/>
        </p:nvSpPr>
        <p:spPr>
          <a:xfrm>
            <a:off x="8402117" y="3017520"/>
            <a:ext cx="2966618" cy="868680"/>
          </a:xfrm>
          <a:prstGeom prst="rect">
            <a:avLst/>
          </a:prstGeom>
          <a:noFill/>
          <a:ln/>
        </p:spPr>
        <p:txBody>
          <a:bodyPr wrap="square" lIns="0" tIns="0" rIns="0" bIns="0" rtlCol="0" anchor="t"/>
          <a:lstStyle/>
          <a:p>
            <a:pPr indent="0" marL="0">
              <a:buNone/>
            </a:pPr>
            <a:r>
              <a:rPr lang="en-US" sz="4400" b="1" dirty="0">
                <a:solidFill>
                  <a:srgbClr val="2A78D6"/>
                </a:solidFill>
                <a:latin typeface="Arial" pitchFamily="34" charset="0"/>
                <a:ea typeface="Arial" pitchFamily="34" charset="-122"/>
                <a:cs typeface="Arial" pitchFamily="34" charset="-120"/>
              </a:rPr>
              <a:t>19.4%</a:t>
            </a:r>
            <a:endParaRPr lang="en-US" sz="4400" dirty="0"/>
          </a:p>
        </p:txBody>
      </p:sp>
      <p:sp>
        <p:nvSpPr>
          <p:cNvPr id="15" name="Text 13"/>
          <p:cNvSpPr txBox="1"/>
          <p:nvPr/>
        </p:nvSpPr>
        <p:spPr>
          <a:xfrm>
            <a:off x="8402117" y="3931920"/>
            <a:ext cx="2966618" cy="68580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grade C default, 2015</a:t>
            </a:r>
            <a:endParaRPr lang="en-US" sz="1500" dirty="0"/>
          </a:p>
        </p:txBody>
      </p:sp>
      <p:sp>
        <p:nvSpPr>
          <p:cNvPr id="16" name="Text 14"/>
          <p:cNvSpPr txBox="1"/>
          <p:nvPr/>
        </p:nvSpPr>
        <p:spPr>
          <a:xfrm>
            <a:off x="8402117" y="4572000"/>
            <a:ext cx="2966618" cy="731520"/>
          </a:xfrm>
          <a:prstGeom prst="rect">
            <a:avLst/>
          </a:prstGeom>
          <a:noFill/>
          <a:ln/>
        </p:spPr>
        <p:txBody>
          <a:bodyPr wrap="square" lIns="0" tIns="0" rIns="0" bIns="0" rtlCol="0" anchor="t"/>
          <a:lstStyle/>
          <a:p>
            <a:pPr indent="0" marL="0">
              <a:buNone/>
            </a:pPr>
            <a:r>
              <a:rPr lang="en-US" sz="1200" dirty="0">
                <a:solidFill>
                  <a:srgbClr val="52514E"/>
                </a:solidFill>
                <a:latin typeface="Arial" pitchFamily="34" charset="0"/>
                <a:ea typeface="Arial" pitchFamily="34" charset="-122"/>
                <a:cs typeface="Arial" pitchFamily="34" charset="-120"/>
              </a:rPr>
              <a:t>Up from 15.3% in 2013 while its average rate fell from 15.4% to 13.2%</a:t>
            </a:r>
            <a:endParaRPr lang="en-US" sz="1200" dirty="0"/>
          </a:p>
        </p:txBody>
      </p:sp>
      <p:sp>
        <p:nvSpPr>
          <p:cNvPr id="17" name="Footnote"/>
          <p:cNvSpPr txBox="1"/>
          <p:nvPr/>
        </p:nvSpPr>
        <p:spPr>
          <a:xfrm>
            <a:off x="548640" y="5870448"/>
            <a:ext cx="11094415" cy="365760"/>
          </a:xfrm>
          <a:prstGeom prst="rect">
            <a:avLst/>
          </a:prstGeom>
          <a:noFill/>
          <a:ln/>
        </p:spPr>
        <p:txBody>
          <a:bodyPr wrap="square" lIns="0" tIns="0" rIns="0" bIns="0" rtlCol="0" anchor="b"/>
          <a:lstStyle/>
          <a:p>
            <a:pPr indent="0" marL="0">
              <a:buNone/>
            </a:pPr>
            <a:r>
              <a:rPr lang="en-US" sz="1000" dirty="0">
                <a:solidFill>
                  <a:srgbClr val="6F6E69"/>
                </a:solidFill>
                <a:latin typeface="Arial" pitchFamily="34" charset="0"/>
                <a:ea typeface="Arial" pitchFamily="34" charset="-122"/>
                <a:cs typeface="Arial" pitchFamily="34" charset="-120"/>
              </a:rPr>
              <a:t>Resolved 36-month loans: 100,422 issued in 2013, 282,787 in 2015. Default = Charged Off or Default.</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THE DATA</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Only 0.02% of 36-month 2012-2015 loans are unresolved, so defaults are not censored</a:t>
            </a:r>
            <a:endParaRPr lang="en-US" sz="2600" dirty="0"/>
          </a:p>
        </p:txBody>
      </p:sp>
      <p:pic>
        <p:nvPicPr>
          <p:cNvPr id="4" name="censoring_by_vintage_wide.png" descr="/Users/alichamas/Desktop/analytics-portfolio/northvale/reports/figures/censoring_by_vintage_wide.png">    </p:cNvPr>
          <p:cNvPicPr>
            <a:picLocks noChangeAspect="1"/>
          </p:cNvPicPr>
          <p:nvPr/>
        </p:nvPicPr>
        <p:blipFill>
          <a:blip r:embed="rId1"/>
          <a:stretch>
            <a:fillRect/>
          </a:stretch>
        </p:blipFill>
        <p:spPr>
          <a:xfrm>
            <a:off x="548640" y="1783080"/>
            <a:ext cx="7406640" cy="4389120"/>
          </a:xfrm>
          <a:prstGeom prst="rect">
            <a:avLst/>
          </a:prstGeom>
        </p:spPr>
      </p:pic>
      <p:sp>
        <p:nvSpPr>
          <p:cNvPr id="5" name="Panel"/>
          <p:cNvSpPr/>
          <p:nvPr/>
        </p:nvSpPr>
        <p:spPr>
          <a:xfrm>
            <a:off x="8229600" y="1783080"/>
            <a:ext cx="3413455" cy="4389120"/>
          </a:xfrm>
          <a:prstGeom prst="roundRect">
            <a:avLst>
              <a:gd name="adj" fmla="val 2143"/>
            </a:avLst>
          </a:prstGeom>
          <a:solidFill>
            <a:srgbClr val="F3F5F8"/>
          </a:solidFill>
          <a:ln w="12700">
            <a:solidFill>
              <a:srgbClr val="F3F5F8"/>
            </a:solidFill>
            <a:prstDash val="solid"/>
          </a:ln>
        </p:spPr>
      </p:sp>
      <p:sp>
        <p:nvSpPr>
          <p:cNvPr id="6" name="Text 3"/>
          <p:cNvSpPr txBox="1"/>
          <p:nvPr/>
        </p:nvSpPr>
        <p:spPr>
          <a:xfrm>
            <a:off x="8503920" y="2057400"/>
            <a:ext cx="2864815" cy="777240"/>
          </a:xfrm>
          <a:prstGeom prst="rect">
            <a:avLst/>
          </a:prstGeom>
          <a:noFill/>
          <a:ln/>
        </p:spPr>
        <p:txBody>
          <a:bodyPr wrap="square" lIns="0" tIns="0" rIns="0" bIns="0" rtlCol="0" anchor="t"/>
          <a:lstStyle/>
          <a:p>
            <a:pPr indent="0" marL="0">
              <a:buNone/>
            </a:pPr>
            <a:r>
              <a:rPr lang="en-US" sz="4000" b="1" dirty="0">
                <a:solidFill>
                  <a:srgbClr val="2A78D6"/>
                </a:solidFill>
                <a:latin typeface="Arial" pitchFamily="34" charset="0"/>
                <a:ea typeface="Arial" pitchFamily="34" charset="-122"/>
                <a:cs typeface="Arial" pitchFamily="34" charset="-120"/>
              </a:rPr>
              <a:t>589k</a:t>
            </a:r>
            <a:endParaRPr lang="en-US" sz="4000" dirty="0"/>
          </a:p>
        </p:txBody>
      </p:sp>
      <p:sp>
        <p:nvSpPr>
          <p:cNvPr id="7" name="Text 4"/>
          <p:cNvSpPr txBox="1"/>
          <p:nvPr/>
        </p:nvSpPr>
        <p:spPr>
          <a:xfrm>
            <a:off x="8503920" y="2862072"/>
            <a:ext cx="2864815" cy="685800"/>
          </a:xfrm>
          <a:prstGeom prst="rect">
            <a:avLst/>
          </a:prstGeom>
          <a:noFill/>
          <a:ln/>
        </p:spPr>
        <p:txBody>
          <a:bodyPr wrap="square" lIns="0" tIns="0" rIns="0" bIns="0" rtlCol="0" anchor="t"/>
          <a:lstStyle/>
          <a:p>
            <a:pPr indent="0" marL="0">
              <a:buNone/>
            </a:pPr>
            <a:r>
              <a:rPr lang="en-US" sz="1300" dirty="0">
                <a:solidFill>
                  <a:srgbClr val="52514E"/>
                </a:solidFill>
                <a:latin typeface="Arial" pitchFamily="34" charset="0"/>
                <a:ea typeface="Arial" pitchFamily="34" charset="-122"/>
                <a:cs typeface="Arial" pitchFamily="34" charset="-120"/>
              </a:rPr>
              <a:t>resolved loans, $7.4B issued 2012-2015</a:t>
            </a:r>
            <a:endParaRPr lang="en-US" sz="1300" dirty="0"/>
          </a:p>
        </p:txBody>
      </p:sp>
      <p:sp>
        <p:nvSpPr>
          <p:cNvPr id="8" name="Text 5"/>
          <p:cNvSpPr txBox="1"/>
          <p:nvPr/>
        </p:nvSpPr>
        <p:spPr>
          <a:xfrm>
            <a:off x="8503920" y="3730752"/>
            <a:ext cx="2864815" cy="202996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28% of 2016 loans still running: keeping them biases defaults</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60-month loans excluded: 33% of 2015 still running</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Train 2012-14, tune on 2015 H1, test once on 2015 H2</a:t>
            </a:r>
            <a:endParaRPr lang="en-US" sz="1400" dirty="0"/>
          </a:p>
        </p:txBody>
      </p:sp>
      <p:sp>
        <p:nvSpPr>
          <p:cNvPr id="9" name="Text 6"/>
          <p:cNvSpPr txBox="1"/>
          <p:nvPr/>
        </p:nvSpPr>
        <p:spPr>
          <a:xfrm>
            <a:off x="8503920" y="5760720"/>
            <a:ext cx="2864815" cy="292608"/>
          </a:xfrm>
          <a:prstGeom prst="rect">
            <a:avLst/>
          </a:prstGeom>
          <a:noFill/>
          <a:ln/>
        </p:spPr>
        <p:txBody>
          <a:bodyPr wrap="square" lIns="0" tIns="0" rIns="0" bIns="0" rtlCol="0" anchor="b"/>
          <a:lstStyle/>
          <a:p>
            <a:pPr indent="0" marL="0">
              <a:buNone/>
            </a:pPr>
            <a:r>
              <a:rPr lang="en-US" sz="950" dirty="0">
                <a:solidFill>
                  <a:srgbClr val="6F6E69"/>
                </a:solidFill>
                <a:latin typeface="Arial" pitchFamily="34" charset="0"/>
                <a:ea typeface="Arial" pitchFamily="34" charset="-122"/>
                <a:cs typeface="Arial" pitchFamily="34" charset="-120"/>
              </a:rPr>
              <a:t>Source: Lending Club accepted loans 2007-2018Q4</a:t>
            </a:r>
            <a:endParaRPr lang="en-US" sz="9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APPROACH</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Audit the inputs, beat the incumbent grade, then let profit choose the cutoff</a:t>
            </a:r>
            <a:endParaRPr lang="en-US" sz="2600" dirty="0"/>
          </a:p>
        </p:txBody>
      </p:sp>
      <p:sp>
        <p:nvSpPr>
          <p:cNvPr id="4" name="Connector 1"/>
          <p:cNvSpPr/>
          <p:nvPr/>
        </p:nvSpPr>
        <p:spPr>
          <a:xfrm>
            <a:off x="1225296" y="2203704"/>
            <a:ext cx="1496507" cy="0"/>
          </a:xfrm>
          <a:prstGeom prst="line">
            <a:avLst/>
          </a:prstGeom>
          <a:noFill/>
          <a:ln w="15875">
            <a:solidFill>
              <a:srgbClr val="D9D7CF"/>
            </a:solidFill>
            <a:prstDash val="solid"/>
          </a:ln>
        </p:spPr>
      </p:sp>
      <p:sp>
        <p:nvSpPr>
          <p:cNvPr id="5" name="Connector 2"/>
          <p:cNvSpPr/>
          <p:nvPr/>
        </p:nvSpPr>
        <p:spPr>
          <a:xfrm>
            <a:off x="3508187" y="2203704"/>
            <a:ext cx="1496507" cy="0"/>
          </a:xfrm>
          <a:prstGeom prst="line">
            <a:avLst/>
          </a:prstGeom>
          <a:noFill/>
          <a:ln w="15875">
            <a:solidFill>
              <a:srgbClr val="D9D7CF"/>
            </a:solidFill>
            <a:prstDash val="solid"/>
          </a:ln>
        </p:spPr>
      </p:sp>
      <p:sp>
        <p:nvSpPr>
          <p:cNvPr id="6" name="Connector 3"/>
          <p:cNvSpPr/>
          <p:nvPr/>
        </p:nvSpPr>
        <p:spPr>
          <a:xfrm>
            <a:off x="5791078" y="2203704"/>
            <a:ext cx="1496507" cy="0"/>
          </a:xfrm>
          <a:prstGeom prst="line">
            <a:avLst/>
          </a:prstGeom>
          <a:noFill/>
          <a:ln w="15875">
            <a:solidFill>
              <a:srgbClr val="D9D7CF"/>
            </a:solidFill>
            <a:prstDash val="solid"/>
          </a:ln>
        </p:spPr>
      </p:sp>
      <p:sp>
        <p:nvSpPr>
          <p:cNvPr id="7" name="Connector 4"/>
          <p:cNvSpPr/>
          <p:nvPr/>
        </p:nvSpPr>
        <p:spPr>
          <a:xfrm>
            <a:off x="8073969" y="2203704"/>
            <a:ext cx="1496507" cy="0"/>
          </a:xfrm>
          <a:prstGeom prst="line">
            <a:avLst/>
          </a:prstGeom>
          <a:noFill/>
          <a:ln w="15875">
            <a:solidFill>
              <a:srgbClr val="D9D7CF"/>
            </a:solidFill>
            <a:prstDash val="solid"/>
          </a:ln>
        </p:spPr>
      </p:sp>
      <p:sp>
        <p:nvSpPr>
          <p:cNvPr id="8" name="Step 1 marker"/>
          <p:cNvSpPr/>
          <p:nvPr/>
        </p:nvSpPr>
        <p:spPr>
          <a:xfrm>
            <a:off x="548640" y="1920240"/>
            <a:ext cx="566928" cy="566928"/>
          </a:xfrm>
          <a:prstGeom prst="ellipse">
            <a:avLst/>
          </a:prstGeom>
          <a:solidFill>
            <a:srgbClr val="2A78D6"/>
          </a:solidFill>
          <a:ln w="12700">
            <a:solidFill>
              <a:srgbClr val="2A78D6"/>
            </a:solidFill>
            <a:prstDash val="solid"/>
          </a:ln>
        </p:spPr>
      </p:sp>
      <p:sp>
        <p:nvSpPr>
          <p:cNvPr id="9" name="Text 7"/>
          <p:cNvSpPr txBox="1"/>
          <p:nvPr/>
        </p:nvSpPr>
        <p:spPr>
          <a:xfrm>
            <a:off x="548640" y="1920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548640" y="2761488"/>
            <a:ext cx="1962851"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Scope</a:t>
            </a:r>
            <a:endParaRPr lang="en-US" sz="1700" dirty="0"/>
          </a:p>
        </p:txBody>
      </p:sp>
      <p:sp>
        <p:nvSpPr>
          <p:cNvPr id="11" name="Text 9"/>
          <p:cNvSpPr txBox="1"/>
          <p:nvPr/>
        </p:nvSpPr>
        <p:spPr>
          <a:xfrm>
            <a:off x="548640" y="3264408"/>
            <a:ext cx="1962851" cy="2496312"/>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36-month loans 2012-2015 with final outcomes, split by issue month, never at random</a:t>
            </a:r>
            <a:endParaRPr lang="en-US" sz="1400" dirty="0"/>
          </a:p>
        </p:txBody>
      </p:sp>
      <p:sp>
        <p:nvSpPr>
          <p:cNvPr id="12" name="Step 2 marker"/>
          <p:cNvSpPr/>
          <p:nvPr/>
        </p:nvSpPr>
        <p:spPr>
          <a:xfrm>
            <a:off x="2831531" y="1920240"/>
            <a:ext cx="566928" cy="566928"/>
          </a:xfrm>
          <a:prstGeom prst="ellipse">
            <a:avLst/>
          </a:prstGeom>
          <a:solidFill>
            <a:srgbClr val="2A78D6"/>
          </a:solidFill>
          <a:ln w="12700">
            <a:solidFill>
              <a:srgbClr val="2A78D6"/>
            </a:solidFill>
            <a:prstDash val="solid"/>
          </a:ln>
        </p:spPr>
      </p:sp>
      <p:sp>
        <p:nvSpPr>
          <p:cNvPr id="13" name="Text 11"/>
          <p:cNvSpPr txBox="1"/>
          <p:nvPr/>
        </p:nvSpPr>
        <p:spPr>
          <a:xfrm>
            <a:off x="2831531" y="1920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2831531" y="2761488"/>
            <a:ext cx="1962851"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Audit</a:t>
            </a:r>
            <a:endParaRPr lang="en-US" sz="1700" dirty="0"/>
          </a:p>
        </p:txBody>
      </p:sp>
      <p:sp>
        <p:nvSpPr>
          <p:cNvPr id="15" name="Text 13"/>
          <p:cNvSpPr txBox="1"/>
          <p:nvPr/>
        </p:nvSpPr>
        <p:spPr>
          <a:xfrm>
            <a:off x="2831531" y="3264408"/>
            <a:ext cx="1962851" cy="2496312"/>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All 151 columns reviewed; post-origination, pricing and proxy fields removed</a:t>
            </a:r>
            <a:endParaRPr lang="en-US" sz="1400" dirty="0"/>
          </a:p>
        </p:txBody>
      </p:sp>
      <p:sp>
        <p:nvSpPr>
          <p:cNvPr id="16" name="Step 3 marker"/>
          <p:cNvSpPr/>
          <p:nvPr/>
        </p:nvSpPr>
        <p:spPr>
          <a:xfrm>
            <a:off x="5114422" y="1920240"/>
            <a:ext cx="566928" cy="566928"/>
          </a:xfrm>
          <a:prstGeom prst="ellipse">
            <a:avLst/>
          </a:prstGeom>
          <a:solidFill>
            <a:srgbClr val="2A78D6"/>
          </a:solidFill>
          <a:ln w="12700">
            <a:solidFill>
              <a:srgbClr val="2A78D6"/>
            </a:solidFill>
            <a:prstDash val="solid"/>
          </a:ln>
        </p:spPr>
      </p:sp>
      <p:sp>
        <p:nvSpPr>
          <p:cNvPr id="17" name="Text 15"/>
          <p:cNvSpPr txBox="1"/>
          <p:nvPr/>
        </p:nvSpPr>
        <p:spPr>
          <a:xfrm>
            <a:off x="5114422" y="1920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5114422" y="2761488"/>
            <a:ext cx="1962851"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Model</a:t>
            </a:r>
            <a:endParaRPr lang="en-US" sz="1700" dirty="0"/>
          </a:p>
        </p:txBody>
      </p:sp>
      <p:sp>
        <p:nvSpPr>
          <p:cNvPr id="19" name="Text 17"/>
          <p:cNvSpPr txBox="1"/>
          <p:nvPr/>
        </p:nvSpPr>
        <p:spPr>
          <a:xfrm>
            <a:off x="5114422" y="3264408"/>
            <a:ext cx="1962851" cy="2496312"/>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LC sub-grade benchmark vs WoE scorecard vs LightGBM, recalibrated on 2015 H1</a:t>
            </a:r>
            <a:endParaRPr lang="en-US" sz="1400" dirty="0"/>
          </a:p>
        </p:txBody>
      </p:sp>
      <p:sp>
        <p:nvSpPr>
          <p:cNvPr id="20" name="Step 4 marker"/>
          <p:cNvSpPr/>
          <p:nvPr/>
        </p:nvSpPr>
        <p:spPr>
          <a:xfrm>
            <a:off x="7397313" y="1920240"/>
            <a:ext cx="566928" cy="566928"/>
          </a:xfrm>
          <a:prstGeom prst="ellipse">
            <a:avLst/>
          </a:prstGeom>
          <a:solidFill>
            <a:srgbClr val="2A78D6"/>
          </a:solidFill>
          <a:ln w="12700">
            <a:solidFill>
              <a:srgbClr val="2A78D6"/>
            </a:solidFill>
            <a:prstDash val="solid"/>
          </a:ln>
        </p:spPr>
      </p:sp>
      <p:sp>
        <p:nvSpPr>
          <p:cNvPr id="21" name="Text 19"/>
          <p:cNvSpPr txBox="1"/>
          <p:nvPr/>
        </p:nvSpPr>
        <p:spPr>
          <a:xfrm>
            <a:off x="7397313" y="1920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txBox="1"/>
          <p:nvPr/>
        </p:nvSpPr>
        <p:spPr>
          <a:xfrm>
            <a:off x="7397313" y="2761488"/>
            <a:ext cx="1962851"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Explain</a:t>
            </a:r>
            <a:endParaRPr lang="en-US" sz="1700" dirty="0"/>
          </a:p>
        </p:txBody>
      </p:sp>
      <p:sp>
        <p:nvSpPr>
          <p:cNvPr id="23" name="Text 21"/>
          <p:cNvSpPr txBox="1"/>
          <p:nvPr/>
        </p:nvSpPr>
        <p:spPr>
          <a:xfrm>
            <a:off x="7397313" y="3264408"/>
            <a:ext cx="1962851" cy="2496312"/>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SHAP drivers turned into plain-English reason codes for each decision</a:t>
            </a:r>
            <a:endParaRPr lang="en-US" sz="1400" dirty="0"/>
          </a:p>
        </p:txBody>
      </p:sp>
      <p:sp>
        <p:nvSpPr>
          <p:cNvPr id="24" name="Step 5 marker"/>
          <p:cNvSpPr/>
          <p:nvPr/>
        </p:nvSpPr>
        <p:spPr>
          <a:xfrm>
            <a:off x="9680204" y="1920240"/>
            <a:ext cx="566928" cy="566928"/>
          </a:xfrm>
          <a:prstGeom prst="ellipse">
            <a:avLst/>
          </a:prstGeom>
          <a:solidFill>
            <a:srgbClr val="2A78D6"/>
          </a:solidFill>
          <a:ln w="12700">
            <a:solidFill>
              <a:srgbClr val="2A78D6"/>
            </a:solidFill>
            <a:prstDash val="solid"/>
          </a:ln>
        </p:spPr>
      </p:sp>
      <p:sp>
        <p:nvSpPr>
          <p:cNvPr id="25" name="Text 23"/>
          <p:cNvSpPr txBox="1"/>
          <p:nvPr/>
        </p:nvSpPr>
        <p:spPr>
          <a:xfrm>
            <a:off x="9680204" y="1920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6" name="Text 24"/>
          <p:cNvSpPr txBox="1"/>
          <p:nvPr/>
        </p:nvSpPr>
        <p:spPr>
          <a:xfrm>
            <a:off x="9680204" y="2761488"/>
            <a:ext cx="1962851"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Decide</a:t>
            </a:r>
            <a:endParaRPr lang="en-US" sz="1700" dirty="0"/>
          </a:p>
        </p:txBody>
      </p:sp>
      <p:sp>
        <p:nvSpPr>
          <p:cNvPr id="27" name="Text 25"/>
          <p:cNvSpPr txBox="1"/>
          <p:nvPr/>
        </p:nvSpPr>
        <p:spPr>
          <a:xfrm>
            <a:off x="9680204" y="3264408"/>
            <a:ext cx="1962851" cy="2496312"/>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Profit per loan from PD, price and loss; cutoff picked on 2015 H1, tested on 2015 H2</a:t>
            </a:r>
            <a:endParaRPr lang="en-US" sz="1400" dirty="0"/>
          </a:p>
        </p:txBody>
      </p:sp>
      <p:sp>
        <p:nvSpPr>
          <p:cNvPr id="28" name="Footnote"/>
          <p:cNvSpPr txBox="1"/>
          <p:nvPr/>
        </p:nvSpPr>
        <p:spPr>
          <a:xfrm>
            <a:off x="548640" y="5870448"/>
            <a:ext cx="11094415" cy="365760"/>
          </a:xfrm>
          <a:prstGeom prst="rect">
            <a:avLst/>
          </a:prstGeom>
          <a:noFill/>
          <a:ln/>
        </p:spPr>
        <p:txBody>
          <a:bodyPr wrap="square" lIns="0" tIns="0" rIns="0" bIns="0" rtlCol="0" anchor="b"/>
          <a:lstStyle/>
          <a:p>
            <a:pPr indent="0" marL="0">
              <a:buNone/>
            </a:pPr>
            <a:r>
              <a:rPr lang="en-US" sz="1000" dirty="0">
                <a:solidFill>
                  <a:srgbClr val="6F6E69"/>
                </a:solidFill>
                <a:latin typeface="Arial" pitchFamily="34" charset="0"/>
                <a:ea typeface="Arial" pitchFamily="34" charset="-122"/>
                <a:cs typeface="Arial" pitchFamily="34" charset="-120"/>
              </a:rPr>
              <a:t>Fixed seed 42. The cutoff is never tuned on the test window.</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FINDING 1</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Grade C loans defaulted 19.4% in 2015 against 15.3% in 2013, at a lower price</a:t>
            </a:r>
            <a:endParaRPr lang="en-US" sz="2600" dirty="0"/>
          </a:p>
        </p:txBody>
      </p:sp>
      <p:pic>
        <p:nvPicPr>
          <p:cNvPr id="4" name="grade_drift_default.png" descr="/Users/alichamas/Desktop/analytics-portfolio/northvale/reports/figures/grade_drift_default.png">    </p:cNvPr>
          <p:cNvPicPr>
            <a:picLocks noChangeAspect="1"/>
          </p:cNvPicPr>
          <p:nvPr/>
        </p:nvPicPr>
        <p:blipFill>
          <a:blip r:embed="rId1"/>
          <a:stretch>
            <a:fillRect/>
          </a:stretch>
        </p:blipFill>
        <p:spPr>
          <a:xfrm>
            <a:off x="548640" y="1783080"/>
            <a:ext cx="5345084" cy="3840480"/>
          </a:xfrm>
          <a:prstGeom prst="rect">
            <a:avLst/>
          </a:prstGeom>
        </p:spPr>
      </p:pic>
      <p:sp>
        <p:nvSpPr>
          <p:cNvPr id="5" name="Text 2"/>
          <p:cNvSpPr txBox="1"/>
          <p:nvPr/>
        </p:nvSpPr>
        <p:spPr>
          <a:xfrm>
            <a:off x="548640" y="5715000"/>
            <a:ext cx="5364328" cy="411480"/>
          </a:xfrm>
          <a:prstGeom prst="rect">
            <a:avLst/>
          </a:prstGeom>
          <a:noFill/>
          <a:ln/>
        </p:spPr>
        <p:txBody>
          <a:bodyPr wrap="square" lIns="0" tIns="0" rIns="0" bIns="0" rtlCol="0" anchor="t"/>
          <a:lstStyle/>
          <a:p>
            <a:pPr indent="0" marL="0">
              <a:buNone/>
            </a:pPr>
            <a:r>
              <a:rPr lang="en-US" sz="1100" dirty="0">
                <a:solidFill>
                  <a:srgbClr val="52514E"/>
                </a:solidFill>
                <a:latin typeface="Arial" pitchFamily="34" charset="0"/>
                <a:ea typeface="Arial" pitchFamily="34" charset="-122"/>
                <a:cs typeface="Arial" pitchFamily="34" charset="-120"/>
              </a:rPr>
              <a:t>Default rates rose inside every grade from A to F.</a:t>
            </a:r>
            <a:endParaRPr lang="en-US" sz="1100" dirty="0"/>
          </a:p>
        </p:txBody>
      </p:sp>
      <p:pic>
        <p:nvPicPr>
          <p:cNvPr id="6" name="grade_drift_price.png" descr="/Users/alichamas/Desktop/analytics-portfolio/northvale/reports/figures/grade_drift_price.png">    </p:cNvPr>
          <p:cNvPicPr>
            <a:picLocks noChangeAspect="1"/>
          </p:cNvPicPr>
          <p:nvPr/>
        </p:nvPicPr>
        <p:blipFill>
          <a:blip r:embed="rId2"/>
          <a:stretch>
            <a:fillRect/>
          </a:stretch>
        </p:blipFill>
        <p:spPr>
          <a:xfrm>
            <a:off x="6278728" y="1783080"/>
            <a:ext cx="5345084" cy="3840480"/>
          </a:xfrm>
          <a:prstGeom prst="rect">
            <a:avLst/>
          </a:prstGeom>
        </p:spPr>
      </p:pic>
      <p:sp>
        <p:nvSpPr>
          <p:cNvPr id="7" name="Text 3"/>
          <p:cNvSpPr txBox="1"/>
          <p:nvPr/>
        </p:nvSpPr>
        <p:spPr>
          <a:xfrm>
            <a:off x="6278728" y="5715000"/>
            <a:ext cx="5364328" cy="411480"/>
          </a:xfrm>
          <a:prstGeom prst="rect">
            <a:avLst/>
          </a:prstGeom>
          <a:noFill/>
          <a:ln/>
        </p:spPr>
        <p:txBody>
          <a:bodyPr wrap="square" lIns="0" tIns="0" rIns="0" bIns="0" rtlCol="0" anchor="t"/>
          <a:lstStyle/>
          <a:p>
            <a:pPr indent="0" marL="0">
              <a:buNone/>
            </a:pPr>
            <a:r>
              <a:rPr lang="en-US" sz="1100" dirty="0">
                <a:solidFill>
                  <a:srgbClr val="52514E"/>
                </a:solidFill>
                <a:latin typeface="Arial" pitchFamily="34" charset="0"/>
                <a:ea typeface="Arial" pitchFamily="34" charset="-122"/>
                <a:cs typeface="Arial" pitchFamily="34" charset="-120"/>
              </a:rPr>
              <a:t>Interest rates fell in grades A to E over the same period.</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FINDING 2</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Fields recorded after issuance would lift test AUC from 0.70 to 0.95</a:t>
            </a:r>
            <a:endParaRPr lang="en-US" sz="2600" dirty="0"/>
          </a:p>
        </p:txBody>
      </p:sp>
      <p:pic>
        <p:nvPicPr>
          <p:cNvPr id="4" name="leakage_auc_screen.png" descr="/Users/alichamas/Desktop/analytics-portfolio/northvale/reports/figures/leakage_auc_screen.png">    </p:cNvPr>
          <p:cNvPicPr>
            <a:picLocks noChangeAspect="1"/>
          </p:cNvPicPr>
          <p:nvPr/>
        </p:nvPicPr>
        <p:blipFill>
          <a:blip r:embed="rId1"/>
          <a:stretch>
            <a:fillRect/>
          </a:stretch>
        </p:blipFill>
        <p:spPr>
          <a:xfrm>
            <a:off x="548640" y="1783080"/>
            <a:ext cx="7406640" cy="4389120"/>
          </a:xfrm>
          <a:prstGeom prst="rect">
            <a:avLst/>
          </a:prstGeom>
        </p:spPr>
      </p:pic>
      <p:sp>
        <p:nvSpPr>
          <p:cNvPr id="5" name="Panel"/>
          <p:cNvSpPr/>
          <p:nvPr/>
        </p:nvSpPr>
        <p:spPr>
          <a:xfrm>
            <a:off x="8229600" y="1783080"/>
            <a:ext cx="3413455" cy="4389120"/>
          </a:xfrm>
          <a:prstGeom prst="roundRect">
            <a:avLst>
              <a:gd name="adj" fmla="val 2143"/>
            </a:avLst>
          </a:prstGeom>
          <a:solidFill>
            <a:srgbClr val="F3F5F8"/>
          </a:solidFill>
          <a:ln w="12700">
            <a:solidFill>
              <a:srgbClr val="F3F5F8"/>
            </a:solidFill>
            <a:prstDash val="solid"/>
          </a:ln>
        </p:spPr>
      </p:sp>
      <p:sp>
        <p:nvSpPr>
          <p:cNvPr id="6" name="Text 3"/>
          <p:cNvSpPr txBox="1"/>
          <p:nvPr/>
        </p:nvSpPr>
        <p:spPr>
          <a:xfrm>
            <a:off x="8503920" y="2057400"/>
            <a:ext cx="2864815" cy="777240"/>
          </a:xfrm>
          <a:prstGeom prst="rect">
            <a:avLst/>
          </a:prstGeom>
          <a:noFill/>
          <a:ln/>
        </p:spPr>
        <p:txBody>
          <a:bodyPr wrap="square" lIns="0" tIns="0" rIns="0" bIns="0" rtlCol="0" anchor="t"/>
          <a:lstStyle/>
          <a:p>
            <a:pPr indent="0" marL="0">
              <a:buNone/>
            </a:pPr>
            <a:r>
              <a:rPr lang="en-US" sz="4000" b="1" dirty="0">
                <a:solidFill>
                  <a:srgbClr val="2A78D6"/>
                </a:solidFill>
                <a:latin typeface="Arial" pitchFamily="34" charset="0"/>
                <a:ea typeface="Arial" pitchFamily="34" charset="-122"/>
                <a:cs typeface="Arial" pitchFamily="34" charset="-120"/>
              </a:rPr>
              <a:t>0.95</a:t>
            </a:r>
            <a:endParaRPr lang="en-US" sz="4000" dirty="0"/>
          </a:p>
        </p:txBody>
      </p:sp>
      <p:sp>
        <p:nvSpPr>
          <p:cNvPr id="7" name="Text 4"/>
          <p:cNvSpPr txBox="1"/>
          <p:nvPr/>
        </p:nvSpPr>
        <p:spPr>
          <a:xfrm>
            <a:off x="8503920" y="2862072"/>
            <a:ext cx="2864815" cy="685800"/>
          </a:xfrm>
          <a:prstGeom prst="rect">
            <a:avLst/>
          </a:prstGeom>
          <a:noFill/>
          <a:ln/>
        </p:spPr>
        <p:txBody>
          <a:bodyPr wrap="square" lIns="0" tIns="0" rIns="0" bIns="0" rtlCol="0" anchor="t"/>
          <a:lstStyle/>
          <a:p>
            <a:pPr indent="0" marL="0">
              <a:buNone/>
            </a:pPr>
            <a:r>
              <a:rPr lang="en-US" sz="1300" dirty="0">
                <a:solidFill>
                  <a:srgbClr val="52514E"/>
                </a:solidFill>
                <a:latin typeface="Arial" pitchFamily="34" charset="0"/>
                <a:ea typeface="Arial" pitchFamily="34" charset="-122"/>
                <a:cs typeface="Arial" pitchFamily="34" charset="-120"/>
              </a:rPr>
              <a:t>test AUC with refreshed FICO, vs 0.70 without</a:t>
            </a:r>
            <a:endParaRPr lang="en-US" sz="1300" dirty="0"/>
          </a:p>
        </p:txBody>
      </p:sp>
      <p:sp>
        <p:nvSpPr>
          <p:cNvPr id="8" name="Text 5"/>
          <p:cNvSpPr txBox="1"/>
          <p:nvPr/>
        </p:nvSpPr>
        <p:spPr>
          <a:xfrm>
            <a:off x="8503920" y="3730752"/>
            <a:ext cx="2864815" cy="202996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9 columns score above 0.70 alone: all post-origination</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Best real application field: FICO at 0.60</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38 post-origination columns dropped</a:t>
            </a:r>
            <a:endParaRPr lang="en-US" sz="1400" dirty="0"/>
          </a:p>
        </p:txBody>
      </p:sp>
      <p:sp>
        <p:nvSpPr>
          <p:cNvPr id="9" name="Text 6"/>
          <p:cNvSpPr txBox="1"/>
          <p:nvPr/>
        </p:nvSpPr>
        <p:spPr>
          <a:xfrm>
            <a:off x="8503920" y="5760720"/>
            <a:ext cx="2864815" cy="292608"/>
          </a:xfrm>
          <a:prstGeom prst="rect">
            <a:avLst/>
          </a:prstGeom>
          <a:noFill/>
          <a:ln/>
        </p:spPr>
        <p:txBody>
          <a:bodyPr wrap="square" lIns="0" tIns="0" rIns="0" bIns="0" rtlCol="0" anchor="b"/>
          <a:lstStyle/>
          <a:p>
            <a:pPr indent="0" marL="0">
              <a:buNone/>
            </a:pPr>
            <a:r>
              <a:rPr lang="en-US" sz="950" dirty="0">
                <a:solidFill>
                  <a:srgbClr val="6F6E69"/>
                </a:solidFill>
                <a:latin typeface="Arial" pitchFamily="34" charset="0"/>
                <a:ea typeface="Arial" pitchFamily="34" charset="-122"/>
                <a:cs typeface="Arial" pitchFamily="34" charset="-120"/>
              </a:rPr>
              <a:t>Audit of 151 columns: docs/feature_audit.csv</a:t>
            </a:r>
            <a:endParaRPr lang="en-US" sz="9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FINDING 3</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LightGBM separates 12.1% from 29.9% default rates inside grade C</a:t>
            </a:r>
            <a:endParaRPr lang="en-US" sz="2600" dirty="0"/>
          </a:p>
        </p:txBody>
      </p:sp>
      <p:pic>
        <p:nvPicPr>
          <p:cNvPr id="4" name="within_grade_spread.png" descr="/Users/alichamas/Desktop/analytics-portfolio/northvale/reports/figures/within_grade_spread.png">    </p:cNvPr>
          <p:cNvPicPr>
            <a:picLocks noChangeAspect="1"/>
          </p:cNvPicPr>
          <p:nvPr/>
        </p:nvPicPr>
        <p:blipFill>
          <a:blip r:embed="rId1"/>
          <a:stretch>
            <a:fillRect/>
          </a:stretch>
        </p:blipFill>
        <p:spPr>
          <a:xfrm>
            <a:off x="548640" y="1783080"/>
            <a:ext cx="7406640" cy="4389120"/>
          </a:xfrm>
          <a:prstGeom prst="rect">
            <a:avLst/>
          </a:prstGeom>
        </p:spPr>
      </p:pic>
      <p:sp>
        <p:nvSpPr>
          <p:cNvPr id="5" name="Panel"/>
          <p:cNvSpPr/>
          <p:nvPr/>
        </p:nvSpPr>
        <p:spPr>
          <a:xfrm>
            <a:off x="8229600" y="1783080"/>
            <a:ext cx="3413455" cy="4389120"/>
          </a:xfrm>
          <a:prstGeom prst="roundRect">
            <a:avLst>
              <a:gd name="adj" fmla="val 2143"/>
            </a:avLst>
          </a:prstGeom>
          <a:solidFill>
            <a:srgbClr val="F3F5F8"/>
          </a:solidFill>
          <a:ln w="12700">
            <a:solidFill>
              <a:srgbClr val="F3F5F8"/>
            </a:solidFill>
            <a:prstDash val="solid"/>
          </a:ln>
        </p:spPr>
      </p:sp>
      <p:sp>
        <p:nvSpPr>
          <p:cNvPr id="6" name="Text 3"/>
          <p:cNvSpPr txBox="1"/>
          <p:nvPr/>
        </p:nvSpPr>
        <p:spPr>
          <a:xfrm>
            <a:off x="8503920" y="2057400"/>
            <a:ext cx="2864815" cy="777240"/>
          </a:xfrm>
          <a:prstGeom prst="rect">
            <a:avLst/>
          </a:prstGeom>
          <a:noFill/>
          <a:ln/>
        </p:spPr>
        <p:txBody>
          <a:bodyPr wrap="square" lIns="0" tIns="0" rIns="0" bIns="0" rtlCol="0" anchor="t"/>
          <a:lstStyle/>
          <a:p>
            <a:pPr indent="0" marL="0">
              <a:buNone/>
            </a:pPr>
            <a:r>
              <a:rPr lang="en-US" sz="4000" b="1" dirty="0">
                <a:solidFill>
                  <a:srgbClr val="2A78D6"/>
                </a:solidFill>
                <a:latin typeface="Arial" pitchFamily="34" charset="0"/>
                <a:ea typeface="Arial" pitchFamily="34" charset="-122"/>
                <a:cs typeface="Arial" pitchFamily="34" charset="-120"/>
              </a:rPr>
              <a:t>0.701</a:t>
            </a:r>
            <a:endParaRPr lang="en-US" sz="4000" dirty="0"/>
          </a:p>
        </p:txBody>
      </p:sp>
      <p:sp>
        <p:nvSpPr>
          <p:cNvPr id="7" name="Text 4"/>
          <p:cNvSpPr txBox="1"/>
          <p:nvPr/>
        </p:nvSpPr>
        <p:spPr>
          <a:xfrm>
            <a:off x="8503920" y="2862072"/>
            <a:ext cx="2864815" cy="685800"/>
          </a:xfrm>
          <a:prstGeom prst="rect">
            <a:avLst/>
          </a:prstGeom>
          <a:noFill/>
          <a:ln/>
        </p:spPr>
        <p:txBody>
          <a:bodyPr wrap="square" lIns="0" tIns="0" rIns="0" bIns="0" rtlCol="0" anchor="t"/>
          <a:lstStyle/>
          <a:p>
            <a:pPr indent="0" marL="0">
              <a:buNone/>
            </a:pPr>
            <a:r>
              <a:rPr lang="en-US" sz="1300" dirty="0">
                <a:solidFill>
                  <a:srgbClr val="52514E"/>
                </a:solidFill>
                <a:latin typeface="Arial" pitchFamily="34" charset="0"/>
                <a:ea typeface="Arial" pitchFamily="34" charset="-122"/>
                <a:cs typeface="Arial" pitchFamily="34" charset="-120"/>
              </a:rPr>
              <a:t>test AUC, vs 0.681 for LC sub-grade</a:t>
            </a:r>
            <a:endParaRPr lang="en-US" sz="1300" dirty="0"/>
          </a:p>
        </p:txBody>
      </p:sp>
      <p:sp>
        <p:nvSpPr>
          <p:cNvPr id="8" name="Text 5"/>
          <p:cNvSpPr txBox="1"/>
          <p:nvPr/>
        </p:nvSpPr>
        <p:spPr>
          <a:xfrm>
            <a:off x="8503920" y="3730752"/>
            <a:ext cx="2864815" cy="202996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KS 0.29 vs 0.27 (grade), 0.25 (scorecard)</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Calibrated: mean PD 14.6%, observed 14.7%</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Stable: score PSI 0.005 train vs test</a:t>
            </a:r>
            <a:endParaRPr lang="en-US" sz="1400" dirty="0"/>
          </a:p>
        </p:txBody>
      </p:sp>
      <p:sp>
        <p:nvSpPr>
          <p:cNvPr id="9" name="Text 6"/>
          <p:cNvSpPr txBox="1"/>
          <p:nvPr/>
        </p:nvSpPr>
        <p:spPr>
          <a:xfrm>
            <a:off x="8503920" y="5760720"/>
            <a:ext cx="2864815" cy="292608"/>
          </a:xfrm>
          <a:prstGeom prst="rect">
            <a:avLst/>
          </a:prstGeom>
          <a:noFill/>
          <a:ln/>
        </p:spPr>
        <p:txBody>
          <a:bodyPr wrap="square" lIns="0" tIns="0" rIns="0" bIns="0" rtlCol="0" anchor="b"/>
          <a:lstStyle/>
          <a:p>
            <a:pPr indent="0" marL="0">
              <a:buNone/>
            </a:pPr>
            <a:r>
              <a:rPr lang="en-US" sz="950" dirty="0">
                <a:solidFill>
                  <a:srgbClr val="6F6E69"/>
                </a:solidFill>
                <a:latin typeface="Arial" pitchFamily="34" charset="0"/>
                <a:ea typeface="Arial" pitchFamily="34" charset="-122"/>
                <a:cs typeface="Arial" pitchFamily="34" charset="-120"/>
              </a:rPr>
              <a:t>Test window: 161,997 loans issued Jul-Dec 2015</a:t>
            </a:r>
            <a:endParaRPr lang="en-US" sz="9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FINDING 4</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FICO, loan size relative to income and recent credit-seeking drive the score</a:t>
            </a:r>
            <a:endParaRPr lang="en-US" sz="2600" dirty="0"/>
          </a:p>
        </p:txBody>
      </p:sp>
      <p:pic>
        <p:nvPicPr>
          <p:cNvPr id="4" name="shap_importance.png" descr="/Users/alichamas/Desktop/analytics-portfolio/northvale/reports/figures/shap_importance.png">    </p:cNvPr>
          <p:cNvPicPr>
            <a:picLocks noChangeAspect="1"/>
          </p:cNvPicPr>
          <p:nvPr/>
        </p:nvPicPr>
        <p:blipFill>
          <a:blip r:embed="rId1"/>
          <a:stretch>
            <a:fillRect/>
          </a:stretch>
        </p:blipFill>
        <p:spPr>
          <a:xfrm>
            <a:off x="548640" y="1783080"/>
            <a:ext cx="5345084" cy="3840480"/>
          </a:xfrm>
          <a:prstGeom prst="rect">
            <a:avLst/>
          </a:prstGeom>
        </p:spPr>
      </p:pic>
      <p:sp>
        <p:nvSpPr>
          <p:cNvPr id="5" name="Text 2"/>
          <p:cNvSpPr txBox="1"/>
          <p:nvPr/>
        </p:nvSpPr>
        <p:spPr>
          <a:xfrm>
            <a:off x="548640" y="5715000"/>
            <a:ext cx="5364328" cy="411480"/>
          </a:xfrm>
          <a:prstGeom prst="rect">
            <a:avLst/>
          </a:prstGeom>
          <a:noFill/>
          <a:ln/>
        </p:spPr>
        <p:txBody>
          <a:bodyPr wrap="square" lIns="0" tIns="0" rIns="0" bIns="0" rtlCol="0" anchor="t"/>
          <a:lstStyle/>
          <a:p>
            <a:pPr indent="0" marL="0">
              <a:buNone/>
            </a:pPr>
            <a:r>
              <a:rPr lang="en-US" sz="1100" dirty="0">
                <a:solidFill>
                  <a:srgbClr val="52514E"/>
                </a:solidFill>
                <a:latin typeface="Arial" pitchFamily="34" charset="0"/>
                <a:ea typeface="Arial" pitchFamily="34" charset="-122"/>
                <a:cs typeface="Arial" pitchFamily="34" charset="-120"/>
              </a:rPr>
              <a:t>Top 5 features carry 28% of the total SHAP effect.</a:t>
            </a:r>
            <a:endParaRPr lang="en-US" sz="1100" dirty="0"/>
          </a:p>
        </p:txBody>
      </p:sp>
      <p:pic>
        <p:nvPicPr>
          <p:cNvPr id="6" name="shap_waterfall_declined.png" descr="/Users/alichamas/Desktop/analytics-portfolio/northvale/reports/figures/shap_waterfall_declined.png">    </p:cNvPr>
          <p:cNvPicPr>
            <a:picLocks noChangeAspect="1"/>
          </p:cNvPicPr>
          <p:nvPr/>
        </p:nvPicPr>
        <p:blipFill>
          <a:blip r:embed="rId2"/>
          <a:stretch>
            <a:fillRect/>
          </a:stretch>
        </p:blipFill>
        <p:spPr>
          <a:xfrm>
            <a:off x="6278728" y="1783080"/>
            <a:ext cx="5345084" cy="3840480"/>
          </a:xfrm>
          <a:prstGeom prst="rect">
            <a:avLst/>
          </a:prstGeom>
        </p:spPr>
      </p:pic>
      <p:sp>
        <p:nvSpPr>
          <p:cNvPr id="7" name="Text 3"/>
          <p:cNvSpPr txBox="1"/>
          <p:nvPr/>
        </p:nvSpPr>
        <p:spPr>
          <a:xfrm>
            <a:off x="6278728" y="5715000"/>
            <a:ext cx="5364328" cy="411480"/>
          </a:xfrm>
          <a:prstGeom prst="rect">
            <a:avLst/>
          </a:prstGeom>
          <a:noFill/>
          <a:ln/>
        </p:spPr>
        <p:txBody>
          <a:bodyPr wrap="square" lIns="0" tIns="0" rIns="0" bIns="0" rtlCol="0" anchor="t"/>
          <a:lstStyle/>
          <a:p>
            <a:pPr indent="0" marL="0">
              <a:buNone/>
            </a:pPr>
            <a:r>
              <a:rPr lang="en-US" sz="1100" dirty="0">
                <a:solidFill>
                  <a:srgbClr val="52514E"/>
                </a:solidFill>
                <a:latin typeface="Arial" pitchFamily="34" charset="0"/>
                <a:ea typeface="Arial" pitchFamily="34" charset="-122"/>
                <a:cs typeface="Arial" pitchFamily="34" charset="-120"/>
              </a:rPr>
              <a:t>A sub-grade A5 applicant declined: low FICO and recent new accounts.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RECOMMENDATION</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Adopt the balanced cutoff: decline applicants with a LightGBM PD above 27.9%</a:t>
            </a:r>
            <a:endParaRPr lang="en-US" sz="2600" dirty="0"/>
          </a:p>
        </p:txBody>
      </p:sp>
      <p:sp>
        <p:nvSpPr>
          <p:cNvPr id="4" name="Card 1"/>
          <p:cNvSpPr/>
          <p:nvPr/>
        </p:nvSpPr>
        <p:spPr>
          <a:xfrm>
            <a:off x="548640" y="1783080"/>
            <a:ext cx="3515258" cy="3977640"/>
          </a:xfrm>
          <a:prstGeom prst="roundRect">
            <a:avLst>
              <a:gd name="adj" fmla="val 2081"/>
            </a:avLst>
          </a:prstGeom>
          <a:solidFill>
            <a:srgbClr val="F3F5F8"/>
          </a:solidFill>
          <a:ln w="12700">
            <a:solidFill>
              <a:srgbClr val="F3F5F8"/>
            </a:solidFill>
            <a:prstDash val="solid"/>
          </a:ln>
        </p:spPr>
      </p:sp>
      <p:sp>
        <p:nvSpPr>
          <p:cNvPr id="5" name="Card 1 tag"/>
          <p:cNvSpPr/>
          <p:nvPr/>
        </p:nvSpPr>
        <p:spPr>
          <a:xfrm>
            <a:off x="822960" y="2057400"/>
            <a:ext cx="1261872" cy="310896"/>
          </a:xfrm>
          <a:prstGeom prst="roundRect">
            <a:avLst>
              <a:gd name="adj" fmla="val 50000"/>
            </a:avLst>
          </a:prstGeom>
          <a:solidFill>
            <a:srgbClr val="E3EEFB"/>
          </a:solidFill>
          <a:ln w="12700">
            <a:solidFill>
              <a:srgbClr val="E3EEFB"/>
            </a:solidFill>
            <a:prstDash val="solid"/>
          </a:ln>
        </p:spPr>
      </p:sp>
      <p:sp>
        <p:nvSpPr>
          <p:cNvPr id="6" name="Text 4"/>
          <p:cNvSpPr txBox="1"/>
          <p:nvPr/>
        </p:nvSpPr>
        <p:spPr>
          <a:xfrm>
            <a:off x="822960" y="2057400"/>
            <a:ext cx="1261872" cy="310896"/>
          </a:xfrm>
          <a:prstGeom prst="rect">
            <a:avLst/>
          </a:prstGeom>
          <a:noFill/>
          <a:ln/>
        </p:spPr>
        <p:txBody>
          <a:bodyPr wrap="square" lIns="0" tIns="0" rIns="0" bIns="0" rtlCol="0" anchor="ctr"/>
          <a:lstStyle/>
          <a:p>
            <a:pPr algn="ctr" indent="0" marL="0">
              <a:buNone/>
            </a:pPr>
            <a:r>
              <a:rPr lang="en-US" sz="1000" b="1" spc="100" kern="0" dirty="0">
                <a:solidFill>
                  <a:srgbClr val="1C5CAB"/>
                </a:solidFill>
                <a:latin typeface="Arial" pitchFamily="34" charset="0"/>
                <a:ea typeface="Arial" pitchFamily="34" charset="-122"/>
                <a:cs typeface="Arial" pitchFamily="34" charset="-120"/>
              </a:rPr>
              <a:t>CONSERVATIVE</a:t>
            </a:r>
            <a:endParaRPr lang="en-US" sz="1000" dirty="0"/>
          </a:p>
        </p:txBody>
      </p:sp>
      <p:sp>
        <p:nvSpPr>
          <p:cNvPr id="7" name="Text 5"/>
          <p:cNvSpPr txBox="1"/>
          <p:nvPr/>
        </p:nvSpPr>
        <p:spPr>
          <a:xfrm>
            <a:off x="822960" y="2560320"/>
            <a:ext cx="2966618" cy="8686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Keep 82% of applicants</a:t>
            </a:r>
            <a:endParaRPr lang="en-US" sz="1700" dirty="0"/>
          </a:p>
        </p:txBody>
      </p:sp>
      <p:sp>
        <p:nvSpPr>
          <p:cNvPr id="8" name="Text 6"/>
          <p:cNvSpPr txBox="1"/>
          <p:nvPr/>
        </p:nvSpPr>
        <p:spPr>
          <a:xfrm>
            <a:off x="822960" y="3474720"/>
            <a:ext cx="2966618" cy="146304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Decline PD above 22.7%. Default rate 11.5%. Per half-year vs today: profit +$18.8M, losses avoided $42.7M.</a:t>
            </a:r>
            <a:endParaRPr lang="en-US" sz="1400" dirty="0"/>
          </a:p>
        </p:txBody>
      </p:sp>
      <p:sp>
        <p:nvSpPr>
          <p:cNvPr id="9" name="Text 7"/>
          <p:cNvSpPr txBox="1"/>
          <p:nvPr/>
        </p:nvSpPr>
        <p:spPr>
          <a:xfrm>
            <a:off x="822960" y="5029200"/>
            <a:ext cx="2966618" cy="50292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Dollar volume kept: 83.6%</a:t>
            </a:r>
            <a:endParaRPr lang="en-US" sz="1200" dirty="0"/>
          </a:p>
        </p:txBody>
      </p:sp>
      <p:sp>
        <p:nvSpPr>
          <p:cNvPr id="10" name="Card 2"/>
          <p:cNvSpPr/>
          <p:nvPr/>
        </p:nvSpPr>
        <p:spPr>
          <a:xfrm>
            <a:off x="4338218" y="1783080"/>
            <a:ext cx="3515258" cy="3977640"/>
          </a:xfrm>
          <a:prstGeom prst="roundRect">
            <a:avLst>
              <a:gd name="adj" fmla="val 2081"/>
            </a:avLst>
          </a:prstGeom>
          <a:solidFill>
            <a:srgbClr val="F3F5F8"/>
          </a:solidFill>
          <a:ln w="12700">
            <a:solidFill>
              <a:srgbClr val="F3F5F8"/>
            </a:solidFill>
            <a:prstDash val="solid"/>
          </a:ln>
        </p:spPr>
      </p:sp>
      <p:sp>
        <p:nvSpPr>
          <p:cNvPr id="11" name="Card 2 tag"/>
          <p:cNvSpPr/>
          <p:nvPr/>
        </p:nvSpPr>
        <p:spPr>
          <a:xfrm>
            <a:off x="4612538" y="2057400"/>
            <a:ext cx="1170432" cy="310896"/>
          </a:xfrm>
          <a:prstGeom prst="roundRect">
            <a:avLst>
              <a:gd name="adj" fmla="val 50000"/>
            </a:avLst>
          </a:prstGeom>
          <a:solidFill>
            <a:srgbClr val="E3EEFB"/>
          </a:solidFill>
          <a:ln w="12700">
            <a:solidFill>
              <a:srgbClr val="E3EEFB"/>
            </a:solidFill>
            <a:prstDash val="solid"/>
          </a:ln>
        </p:spPr>
      </p:sp>
      <p:sp>
        <p:nvSpPr>
          <p:cNvPr id="12" name="Text 10"/>
          <p:cNvSpPr txBox="1"/>
          <p:nvPr/>
        </p:nvSpPr>
        <p:spPr>
          <a:xfrm>
            <a:off x="4612538" y="2057400"/>
            <a:ext cx="1170432" cy="310896"/>
          </a:xfrm>
          <a:prstGeom prst="rect">
            <a:avLst/>
          </a:prstGeom>
          <a:noFill/>
          <a:ln/>
        </p:spPr>
        <p:txBody>
          <a:bodyPr wrap="square" lIns="0" tIns="0" rIns="0" bIns="0" rtlCol="0" anchor="ctr"/>
          <a:lstStyle/>
          <a:p>
            <a:pPr algn="ctr" indent="0" marL="0">
              <a:buNone/>
            </a:pPr>
            <a:r>
              <a:rPr lang="en-US" sz="1000" b="1" spc="100" kern="0" dirty="0">
                <a:solidFill>
                  <a:srgbClr val="1C5CAB"/>
                </a:solidFill>
                <a:latin typeface="Arial" pitchFamily="34" charset="0"/>
                <a:ea typeface="Arial" pitchFamily="34" charset="-122"/>
                <a:cs typeface="Arial" pitchFamily="34" charset="-120"/>
              </a:rPr>
              <a:t>RECOMMENDED</a:t>
            </a:r>
            <a:endParaRPr lang="en-US" sz="1000" dirty="0"/>
          </a:p>
        </p:txBody>
      </p:sp>
      <p:sp>
        <p:nvSpPr>
          <p:cNvPr id="13" name="Text 11"/>
          <p:cNvSpPr txBox="1"/>
          <p:nvPr/>
        </p:nvSpPr>
        <p:spPr>
          <a:xfrm>
            <a:off x="4612538" y="2560320"/>
            <a:ext cx="2966618" cy="8686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Balanced: keep 91% of applicants</a:t>
            </a:r>
            <a:endParaRPr lang="en-US" sz="1700" dirty="0"/>
          </a:p>
        </p:txBody>
      </p:sp>
      <p:sp>
        <p:nvSpPr>
          <p:cNvPr id="14" name="Text 12"/>
          <p:cNvSpPr txBox="1"/>
          <p:nvPr/>
        </p:nvSpPr>
        <p:spPr>
          <a:xfrm>
            <a:off x="4612538" y="3474720"/>
            <a:ext cx="2966618" cy="146304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Decline PD above 27.9%. Default rate 12.8%, from 14.7%. Per half-year: profit +$13.8M, losses avoided $26.0M.</a:t>
            </a:r>
            <a:endParaRPr lang="en-US" sz="1400" dirty="0"/>
          </a:p>
        </p:txBody>
      </p:sp>
      <p:sp>
        <p:nvSpPr>
          <p:cNvPr id="15" name="Text 13"/>
          <p:cNvSpPr txBox="1"/>
          <p:nvPr/>
        </p:nvSpPr>
        <p:spPr>
          <a:xfrm>
            <a:off x="4612538" y="5029200"/>
            <a:ext cx="2966618" cy="50292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Dollar volume kept: 91.4%</a:t>
            </a:r>
            <a:endParaRPr lang="en-US" sz="1200" dirty="0"/>
          </a:p>
        </p:txBody>
      </p:sp>
      <p:sp>
        <p:nvSpPr>
          <p:cNvPr id="16" name="Card 3"/>
          <p:cNvSpPr/>
          <p:nvPr/>
        </p:nvSpPr>
        <p:spPr>
          <a:xfrm>
            <a:off x="8127797" y="1783080"/>
            <a:ext cx="3515258" cy="3977640"/>
          </a:xfrm>
          <a:prstGeom prst="roundRect">
            <a:avLst>
              <a:gd name="adj" fmla="val 2081"/>
            </a:avLst>
          </a:prstGeom>
          <a:solidFill>
            <a:srgbClr val="F3F5F8"/>
          </a:solidFill>
          <a:ln w="12700">
            <a:solidFill>
              <a:srgbClr val="F3F5F8"/>
            </a:solidFill>
            <a:prstDash val="solid"/>
          </a:ln>
        </p:spPr>
      </p:sp>
      <p:sp>
        <p:nvSpPr>
          <p:cNvPr id="17" name="Card 3 tag"/>
          <p:cNvSpPr/>
          <p:nvPr/>
        </p:nvSpPr>
        <p:spPr>
          <a:xfrm>
            <a:off x="8402117" y="2057400"/>
            <a:ext cx="713232" cy="310896"/>
          </a:xfrm>
          <a:prstGeom prst="roundRect">
            <a:avLst>
              <a:gd name="adj" fmla="val 50000"/>
            </a:avLst>
          </a:prstGeom>
          <a:solidFill>
            <a:srgbClr val="E3EEFB"/>
          </a:solidFill>
          <a:ln w="12700">
            <a:solidFill>
              <a:srgbClr val="E3EEFB"/>
            </a:solidFill>
            <a:prstDash val="solid"/>
          </a:ln>
        </p:spPr>
      </p:sp>
      <p:sp>
        <p:nvSpPr>
          <p:cNvPr id="18" name="Text 16"/>
          <p:cNvSpPr txBox="1"/>
          <p:nvPr/>
        </p:nvSpPr>
        <p:spPr>
          <a:xfrm>
            <a:off x="8402117" y="2057400"/>
            <a:ext cx="713232" cy="310896"/>
          </a:xfrm>
          <a:prstGeom prst="rect">
            <a:avLst/>
          </a:prstGeom>
          <a:noFill/>
          <a:ln/>
        </p:spPr>
        <p:txBody>
          <a:bodyPr wrap="square" lIns="0" tIns="0" rIns="0" bIns="0" rtlCol="0" anchor="ctr"/>
          <a:lstStyle/>
          <a:p>
            <a:pPr algn="ctr" indent="0" marL="0">
              <a:buNone/>
            </a:pPr>
            <a:r>
              <a:rPr lang="en-US" sz="1000" b="1" spc="100" kern="0" dirty="0">
                <a:solidFill>
                  <a:srgbClr val="1C5CAB"/>
                </a:solidFill>
                <a:latin typeface="Arial" pitchFamily="34" charset="0"/>
                <a:ea typeface="Arial" pitchFamily="34" charset="-122"/>
                <a:cs typeface="Arial" pitchFamily="34" charset="-120"/>
              </a:rPr>
              <a:t>GROWTH</a:t>
            </a:r>
            <a:endParaRPr lang="en-US" sz="1000" dirty="0"/>
          </a:p>
        </p:txBody>
      </p:sp>
      <p:sp>
        <p:nvSpPr>
          <p:cNvPr id="19" name="Text 17"/>
          <p:cNvSpPr txBox="1"/>
          <p:nvPr/>
        </p:nvSpPr>
        <p:spPr>
          <a:xfrm>
            <a:off x="8402117" y="2560320"/>
            <a:ext cx="2966618" cy="8686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Keep 96% of applicants</a:t>
            </a:r>
            <a:endParaRPr lang="en-US" sz="1700" dirty="0"/>
          </a:p>
        </p:txBody>
      </p:sp>
      <p:sp>
        <p:nvSpPr>
          <p:cNvPr id="20" name="Text 18"/>
          <p:cNvSpPr txBox="1"/>
          <p:nvPr/>
        </p:nvSpPr>
        <p:spPr>
          <a:xfrm>
            <a:off x="8402117" y="3474720"/>
            <a:ext cx="2966618" cy="146304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Decline PD above 33.3%. Default rate 13.7%. Per half-year vs today: profit +$8.5M, losses avoided $13.8M.</a:t>
            </a:r>
            <a:endParaRPr lang="en-US" sz="1400" dirty="0"/>
          </a:p>
        </p:txBody>
      </p:sp>
      <p:sp>
        <p:nvSpPr>
          <p:cNvPr id="21" name="Text 19"/>
          <p:cNvSpPr txBox="1"/>
          <p:nvPr/>
        </p:nvSpPr>
        <p:spPr>
          <a:xfrm>
            <a:off x="8402117" y="5029200"/>
            <a:ext cx="2966618" cy="50292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Dollar volume kept: 96.0%</a:t>
            </a:r>
            <a:endParaRPr lang="en-US" sz="1200" dirty="0"/>
          </a:p>
        </p:txBody>
      </p:sp>
      <p:sp>
        <p:nvSpPr>
          <p:cNvPr id="22" name="Footnote"/>
          <p:cNvSpPr txBox="1"/>
          <p:nvPr/>
        </p:nvSpPr>
        <p:spPr>
          <a:xfrm>
            <a:off x="548640" y="5870448"/>
            <a:ext cx="11094415" cy="365760"/>
          </a:xfrm>
          <a:prstGeom prst="rect">
            <a:avLst/>
          </a:prstGeom>
          <a:noFill/>
          <a:ln/>
        </p:spPr>
        <p:txBody>
          <a:bodyPr wrap="square" lIns="0" tIns="0" rIns="0" bIns="0" rtlCol="0" anchor="b"/>
          <a:lstStyle/>
          <a:p>
            <a:pPr indent="0" marL="0">
              <a:buNone/>
            </a:pPr>
            <a:r>
              <a:rPr lang="en-US" sz="1000" dirty="0">
                <a:solidFill>
                  <a:srgbClr val="6F6E69"/>
                </a:solidFill>
                <a:latin typeface="Arial" pitchFamily="34" charset="0"/>
                <a:ea typeface="Arial" pitchFamily="34" charset="-122"/>
                <a:cs typeface="Arial" pitchFamily="34" charset="-120"/>
              </a:rPr>
              <a:t>Cutoffs chosen on Jan-Jun 2015 by expected profit; realized results on 161,997 Jul-Dec 2015 loans. Base cost assumptions.</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EXPECTED IMPACT</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The balanced cutoff turns a -$1.1M half-year into +$12.7M</a:t>
            </a:r>
            <a:endParaRPr lang="en-US" sz="2600" dirty="0"/>
          </a:p>
        </p:txBody>
      </p:sp>
      <p:pic>
        <p:nvPicPr>
          <p:cNvPr id="4" name="policy_profit_curve.png" descr="/Users/alichamas/Desktop/analytics-portfolio/northvale/reports/figures/policy_profit_curve.png">    </p:cNvPr>
          <p:cNvPicPr>
            <a:picLocks noChangeAspect="1"/>
          </p:cNvPicPr>
          <p:nvPr/>
        </p:nvPicPr>
        <p:blipFill>
          <a:blip r:embed="rId1"/>
          <a:stretch>
            <a:fillRect/>
          </a:stretch>
        </p:blipFill>
        <p:spPr>
          <a:xfrm>
            <a:off x="548640" y="1783080"/>
            <a:ext cx="7406640" cy="4389120"/>
          </a:xfrm>
          <a:prstGeom prst="rect">
            <a:avLst/>
          </a:prstGeom>
        </p:spPr>
      </p:pic>
      <p:sp>
        <p:nvSpPr>
          <p:cNvPr id="5" name="Panel"/>
          <p:cNvSpPr/>
          <p:nvPr/>
        </p:nvSpPr>
        <p:spPr>
          <a:xfrm>
            <a:off x="8229600" y="1783080"/>
            <a:ext cx="3413455" cy="4389120"/>
          </a:xfrm>
          <a:prstGeom prst="roundRect">
            <a:avLst>
              <a:gd name="adj" fmla="val 2143"/>
            </a:avLst>
          </a:prstGeom>
          <a:solidFill>
            <a:srgbClr val="F3F5F8"/>
          </a:solidFill>
          <a:ln w="12700">
            <a:solidFill>
              <a:srgbClr val="F3F5F8"/>
            </a:solidFill>
            <a:prstDash val="solid"/>
          </a:ln>
        </p:spPr>
      </p:sp>
      <p:sp>
        <p:nvSpPr>
          <p:cNvPr id="6" name="Text 3"/>
          <p:cNvSpPr txBox="1"/>
          <p:nvPr/>
        </p:nvSpPr>
        <p:spPr>
          <a:xfrm>
            <a:off x="8503920" y="2057400"/>
            <a:ext cx="2864815" cy="777240"/>
          </a:xfrm>
          <a:prstGeom prst="rect">
            <a:avLst/>
          </a:prstGeom>
          <a:noFill/>
          <a:ln/>
        </p:spPr>
        <p:txBody>
          <a:bodyPr wrap="square" lIns="0" tIns="0" rIns="0" bIns="0" rtlCol="0" anchor="t"/>
          <a:lstStyle/>
          <a:p>
            <a:pPr indent="0" marL="0">
              <a:buNone/>
            </a:pPr>
            <a:r>
              <a:rPr lang="en-US" sz="4000" b="1" dirty="0">
                <a:solidFill>
                  <a:srgbClr val="2A78D6"/>
                </a:solidFill>
                <a:latin typeface="Arial" pitchFamily="34" charset="0"/>
                <a:ea typeface="Arial" pitchFamily="34" charset="-122"/>
                <a:cs typeface="Arial" pitchFamily="34" charset="-120"/>
              </a:rPr>
              <a:t>+$27.6M</a:t>
            </a:r>
            <a:endParaRPr lang="en-US" sz="4000" dirty="0"/>
          </a:p>
        </p:txBody>
      </p:sp>
      <p:sp>
        <p:nvSpPr>
          <p:cNvPr id="7" name="Text 4"/>
          <p:cNvSpPr txBox="1"/>
          <p:nvPr/>
        </p:nvSpPr>
        <p:spPr>
          <a:xfrm>
            <a:off x="8503920" y="2862072"/>
            <a:ext cx="2864815" cy="685800"/>
          </a:xfrm>
          <a:prstGeom prst="rect">
            <a:avLst/>
          </a:prstGeom>
          <a:noFill/>
          <a:ln/>
        </p:spPr>
        <p:txBody>
          <a:bodyPr wrap="square" lIns="0" tIns="0" rIns="0" bIns="0" rtlCol="0" anchor="t"/>
          <a:lstStyle/>
          <a:p>
            <a:pPr indent="0" marL="0">
              <a:buNone/>
            </a:pPr>
            <a:r>
              <a:rPr lang="en-US" sz="1300" dirty="0">
                <a:solidFill>
                  <a:srgbClr val="52514E"/>
                </a:solidFill>
                <a:latin typeface="Arial" pitchFamily="34" charset="0"/>
                <a:ea typeface="Arial" pitchFamily="34" charset="-122"/>
                <a:cs typeface="Arial" pitchFamily="34" charset="-120"/>
              </a:rPr>
              <a:t>profit a year vs approving all, base assumptions</a:t>
            </a:r>
            <a:endParaRPr lang="en-US" sz="1300" dirty="0"/>
          </a:p>
        </p:txBody>
      </p:sp>
      <p:sp>
        <p:nvSpPr>
          <p:cNvPr id="8" name="Text 5"/>
          <p:cNvSpPr txBox="1"/>
          <p:nvPr/>
        </p:nvSpPr>
        <p:spPr>
          <a:xfrm>
            <a:off x="8503920" y="3730752"/>
            <a:ext cx="2864815" cy="202996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$52.1M of credit losses avoided a year</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Same approval as declining D-G: $16.6M vs $7.9M</a:t>
            </a:r>
            <a:endParaRPr lang="en-US" sz="1400" dirty="0"/>
          </a:p>
          <a:p>
            <a:pPr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Range +$21.2M to +$40.5M a year by cost scenario</a:t>
            </a:r>
            <a:endParaRPr lang="en-US" sz="1400" dirty="0"/>
          </a:p>
        </p:txBody>
      </p:sp>
      <p:sp>
        <p:nvSpPr>
          <p:cNvPr id="9" name="Text 6"/>
          <p:cNvSpPr txBox="1"/>
          <p:nvPr/>
        </p:nvSpPr>
        <p:spPr>
          <a:xfrm>
            <a:off x="8503920" y="5760720"/>
            <a:ext cx="2864815" cy="292608"/>
          </a:xfrm>
          <a:prstGeom prst="rect">
            <a:avLst/>
          </a:prstGeom>
          <a:noFill/>
          <a:ln/>
        </p:spPr>
        <p:txBody>
          <a:bodyPr wrap="square" lIns="0" tIns="0" rIns="0" bIns="0" rtlCol="0" anchor="b"/>
          <a:lstStyle/>
          <a:p>
            <a:pPr indent="0" marL="0">
              <a:buNone/>
            </a:pPr>
            <a:r>
              <a:rPr lang="en-US" sz="950" dirty="0">
                <a:solidFill>
                  <a:srgbClr val="6F6E69"/>
                </a:solidFill>
                <a:latin typeface="Arial" pitchFamily="34" charset="0"/>
                <a:ea typeface="Arial" pitchFamily="34" charset="-122"/>
                <a:cs typeface="Arial" pitchFamily="34" charset="-120"/>
              </a:rPr>
              <a:t>Annual = 2 x Jul-Dec 2015 book ($4.2B a year)</a:t>
            </a:r>
            <a:endParaRPr lang="en-US" sz="9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LIMITATIONS AND NEXT STEPS</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The policy can only tighten: Lending Club's rejected applicants are not in the data</a:t>
            </a:r>
            <a:endParaRPr lang="en-US" sz="2600" dirty="0"/>
          </a:p>
        </p:txBody>
      </p:sp>
      <p:sp>
        <p:nvSpPr>
          <p:cNvPr id="4" name="Column 1"/>
          <p:cNvSpPr/>
          <p:nvPr/>
        </p:nvSpPr>
        <p:spPr>
          <a:xfrm>
            <a:off x="548640" y="1783080"/>
            <a:ext cx="3515258" cy="4343400"/>
          </a:xfrm>
          <a:prstGeom prst="roundRect">
            <a:avLst>
              <a:gd name="adj" fmla="val 2081"/>
            </a:avLst>
          </a:prstGeom>
          <a:solidFill>
            <a:srgbClr val="F3F5F8"/>
          </a:solidFill>
          <a:ln w="12700">
            <a:solidFill>
              <a:srgbClr val="F3F5F8"/>
            </a:solidFill>
            <a:prstDash val="solid"/>
          </a:ln>
        </p:spPr>
      </p:sp>
      <p:sp>
        <p:nvSpPr>
          <p:cNvPr id="5" name="Text 3"/>
          <p:cNvSpPr txBox="1"/>
          <p:nvPr/>
        </p:nvSpPr>
        <p:spPr>
          <a:xfrm>
            <a:off x="822960" y="2057400"/>
            <a:ext cx="2966618"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Data limits</a:t>
            </a:r>
            <a:endParaRPr lang="en-US" sz="1700" dirty="0"/>
          </a:p>
        </p:txBody>
      </p:sp>
      <p:sp>
        <p:nvSpPr>
          <p:cNvPr id="6" name="Text 4"/>
          <p:cNvSpPr txBox="1"/>
          <p:nvPr/>
        </p:nvSpPr>
        <p:spPr>
          <a:xfrm>
            <a:off x="822960" y="2651760"/>
            <a:ext cx="2966618" cy="32461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Approved loans only: no reject inference</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FICO floor of 660: no subprime or thin-file view</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2015 losses ran above training: 39.4% vs 35.9%</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Marketplace data used as a balance-sheet lender</a:t>
            </a:r>
            <a:endParaRPr lang="en-US" sz="1400" dirty="0"/>
          </a:p>
        </p:txBody>
      </p:sp>
      <p:sp>
        <p:nvSpPr>
          <p:cNvPr id="7" name="Column 2"/>
          <p:cNvSpPr/>
          <p:nvPr/>
        </p:nvSpPr>
        <p:spPr>
          <a:xfrm>
            <a:off x="4338218" y="1783080"/>
            <a:ext cx="3515258" cy="4343400"/>
          </a:xfrm>
          <a:prstGeom prst="roundRect">
            <a:avLst>
              <a:gd name="adj" fmla="val 2081"/>
            </a:avLst>
          </a:prstGeom>
          <a:solidFill>
            <a:srgbClr val="F3F5F8"/>
          </a:solidFill>
          <a:ln w="12700">
            <a:solidFill>
              <a:srgbClr val="F3F5F8"/>
            </a:solidFill>
            <a:prstDash val="solid"/>
          </a:ln>
        </p:spPr>
      </p:sp>
      <p:sp>
        <p:nvSpPr>
          <p:cNvPr id="8" name="Text 6"/>
          <p:cNvSpPr txBox="1"/>
          <p:nvPr/>
        </p:nvSpPr>
        <p:spPr>
          <a:xfrm>
            <a:off x="4612538" y="2057400"/>
            <a:ext cx="2966618"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Model limits</a:t>
            </a:r>
            <a:endParaRPr lang="en-US" sz="1700" dirty="0"/>
          </a:p>
        </p:txBody>
      </p:sp>
      <p:sp>
        <p:nvSpPr>
          <p:cNvPr id="9" name="Text 7"/>
          <p:cNvSpPr txBox="1"/>
          <p:nvPr/>
        </p:nvSpPr>
        <p:spPr>
          <a:xfrm>
            <a:off x="4612538" y="2651760"/>
            <a:ext cx="2966618" cy="32461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AUC gain over the grade is modest: +0.019</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Pricing held fixed; no time value of money</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LightGBM needs SHAP; the scorecard is simpler to govern</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No fairness test on protected groups yet</a:t>
            </a:r>
            <a:endParaRPr lang="en-US" sz="1400" dirty="0"/>
          </a:p>
        </p:txBody>
      </p:sp>
      <p:sp>
        <p:nvSpPr>
          <p:cNvPr id="10" name="Column 3"/>
          <p:cNvSpPr/>
          <p:nvPr/>
        </p:nvSpPr>
        <p:spPr>
          <a:xfrm>
            <a:off x="8127797" y="1783080"/>
            <a:ext cx="3515258" cy="4343400"/>
          </a:xfrm>
          <a:prstGeom prst="roundRect">
            <a:avLst>
              <a:gd name="adj" fmla="val 2081"/>
            </a:avLst>
          </a:prstGeom>
          <a:solidFill>
            <a:srgbClr val="F3F5F8"/>
          </a:solidFill>
          <a:ln w="12700">
            <a:solidFill>
              <a:srgbClr val="F3F5F8"/>
            </a:solidFill>
            <a:prstDash val="solid"/>
          </a:ln>
        </p:spPr>
      </p:sp>
      <p:sp>
        <p:nvSpPr>
          <p:cNvPr id="11" name="Text 9"/>
          <p:cNvSpPr txBox="1"/>
          <p:nvPr/>
        </p:nvSpPr>
        <p:spPr>
          <a:xfrm>
            <a:off x="8402117" y="2057400"/>
            <a:ext cx="2966618" cy="411480"/>
          </a:xfrm>
          <a:prstGeom prst="rect">
            <a:avLst/>
          </a:prstGeom>
          <a:noFill/>
          <a:ln/>
        </p:spPr>
        <p:txBody>
          <a:bodyPr wrap="square" lIns="0" tIns="0" rIns="0" bIns="0" rtlCol="0" anchor="t"/>
          <a:lstStyle/>
          <a:p>
            <a:pPr indent="0" marL="0">
              <a:buNone/>
            </a:pPr>
            <a:r>
              <a:rPr lang="en-US" sz="1700" b="1" dirty="0">
                <a:solidFill>
                  <a:srgbClr val="1A1A1A"/>
                </a:solidFill>
                <a:latin typeface="Arial" pitchFamily="34" charset="0"/>
                <a:ea typeface="Arial" pitchFamily="34" charset="-122"/>
                <a:cs typeface="Arial" pitchFamily="34" charset="-120"/>
              </a:rPr>
              <a:t>Next steps</a:t>
            </a:r>
            <a:endParaRPr lang="en-US" sz="1700" dirty="0"/>
          </a:p>
        </p:txBody>
      </p:sp>
      <p:sp>
        <p:nvSpPr>
          <p:cNvPr id="12" name="Text 10"/>
          <p:cNvSpPr txBox="1"/>
          <p:nvPr/>
        </p:nvSpPr>
        <p:spPr>
          <a:xfrm>
            <a:off x="8402117" y="2651760"/>
            <a:ext cx="2966618" cy="32461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Champion-challenger trial on live applications</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Re-price the 20%+ band: -$1.4M on test</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Monthly PSI, vintage curves and override rates</a:t>
            </a:r>
            <a:endParaRPr lang="en-US" sz="1400" dirty="0"/>
          </a:p>
          <a:p>
            <a:pPr marL="177800" indent="-177800">
              <a:spcAft>
                <a:spcPts val="1000"/>
              </a:spcAft>
              <a:buSzPct val="100000"/>
              <a:buChar char="•"/>
            </a:pPr>
            <a:r>
              <a:rPr lang="en-US" sz="1400" dirty="0">
                <a:solidFill>
                  <a:srgbClr val="52514E"/>
                </a:solidFill>
                <a:latin typeface="Arial" pitchFamily="34" charset="0"/>
                <a:ea typeface="Arial" pitchFamily="34" charset="-122"/>
                <a:cs typeface="Arial" pitchFamily="34" charset="-120"/>
              </a:rPr>
              <a:t>Add 60-month loans once vintages resolve</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100" b="1" spc="150" kern="0" dirty="0">
                <a:solidFill>
                  <a:srgbClr val="2A78D6"/>
                </a:solidFill>
                <a:latin typeface="Arial" pitchFamily="34" charset="0"/>
                <a:ea typeface="Arial" pitchFamily="34" charset="-122"/>
                <a:cs typeface="Arial" pitchFamily="34" charset="-120"/>
              </a:rPr>
              <a:t>APPENDIX</a:t>
            </a:r>
            <a:endParaRPr lang="en-US" sz="1100" dirty="0"/>
          </a:p>
        </p:txBody>
      </p:sp>
      <p:sp>
        <p:nvSpPr>
          <p:cNvPr id="3"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Methodology</a:t>
            </a:r>
            <a:endParaRPr lang="en-US" sz="2600" dirty="0"/>
          </a:p>
        </p:txBody>
      </p:sp>
      <p:sp>
        <p:nvSpPr>
          <p:cNvPr id="4" name="Text 2"/>
          <p:cNvSpPr txBox="1"/>
          <p:nvPr/>
        </p:nvSpPr>
        <p:spPr>
          <a:xfrm>
            <a:off x="548640" y="1783080"/>
            <a:ext cx="5318608" cy="4389120"/>
          </a:xfrm>
          <a:prstGeom prst="rect">
            <a:avLst/>
          </a:prstGeom>
          <a:noFill/>
          <a:ln/>
        </p:spPr>
        <p:txBody>
          <a:bodyPr wrap="square" lIns="0" tIns="0" rIns="0" bIns="0" rtlCol="0" anchor="t"/>
          <a:lstStyle/>
          <a:p>
            <a:pPr indent="0" marL="0">
              <a:spcAft>
                <a:spcPts val="200"/>
              </a:spcAft>
              <a:buNone/>
            </a:pPr>
            <a:r>
              <a:rPr lang="en-US" sz="1300" b="1" dirty="0">
                <a:solidFill>
                  <a:srgbClr val="1A1A1A"/>
                </a:solidFill>
                <a:latin typeface="Arial" pitchFamily="34" charset="0"/>
                <a:ea typeface="Arial" pitchFamily="34" charset="-122"/>
                <a:cs typeface="Arial" pitchFamily="34" charset="-120"/>
              </a:rPr>
              <a:t>Target and sample</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Default = Charged Off or Default; good = Fully Paid. 589,249 individual 36-month loans issued 2012-2015; 147 unresolved and 239 joint applications excluded.</a:t>
            </a:r>
            <a:endParaRPr lang="en-US" sz="1300" dirty="0"/>
          </a:p>
          <a:p>
            <a:pPr indent="0" marL="0">
              <a:spcAft>
                <a:spcPts val="200"/>
              </a:spcAft>
              <a:buNone/>
            </a:pPr>
            <a:r>
              <a:rPr lang="en-US" sz="1300" b="1" dirty="0">
                <a:solidFill>
                  <a:srgbClr val="1A1A1A"/>
                </a:solidFill>
                <a:latin typeface="Arial" pitchFamily="34" charset="0"/>
                <a:ea typeface="Arial" pitchFamily="34" charset="-122"/>
                <a:cs typeface="Arial" pitchFamily="34" charset="-120"/>
              </a:rPr>
              <a:t>Split and leakage</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Train 2012-2014 (306k), validation Jan-Jun 2015 (121k), test Jul-Dec 2015 (162k). 63 application features kept out of 151 columns.</a:t>
            </a:r>
            <a:endParaRPr lang="en-US" sz="1300" dirty="0"/>
          </a:p>
          <a:p>
            <a:pPr indent="0" marL="0">
              <a:spcAft>
                <a:spcPts val="200"/>
              </a:spcAft>
              <a:buNone/>
            </a:pPr>
            <a:r>
              <a:rPr lang="en-US" sz="1300" b="1" dirty="0">
                <a:solidFill>
                  <a:srgbClr val="1A1A1A"/>
                </a:solidFill>
                <a:latin typeface="Arial" pitchFamily="34" charset="0"/>
                <a:ea typeface="Arial" pitchFamily="34" charset="-122"/>
                <a:cs typeface="Arial" pitchFamily="34" charset="-120"/>
              </a:rPr>
              <a:t>Models</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Scorecard: optbinning WoE, IV &gt;= 0.02, |r| &lt; 0.7, sign checks, 13 characteristics, 600 points at 50:1, PDO 20. LightGBM: 15 leaves, early stopping on validation.</a:t>
            </a:r>
            <a:endParaRPr lang="en-US" sz="1300" dirty="0"/>
          </a:p>
        </p:txBody>
      </p:sp>
      <p:sp>
        <p:nvSpPr>
          <p:cNvPr id="5" name="Text 3"/>
          <p:cNvSpPr txBox="1"/>
          <p:nvPr/>
        </p:nvSpPr>
        <p:spPr>
          <a:xfrm>
            <a:off x="6324448" y="1783080"/>
            <a:ext cx="5318608" cy="4389120"/>
          </a:xfrm>
          <a:prstGeom prst="rect">
            <a:avLst/>
          </a:prstGeom>
          <a:noFill/>
          <a:ln/>
        </p:spPr>
        <p:txBody>
          <a:bodyPr wrap="square" lIns="0" tIns="0" rIns="0" bIns="0" rtlCol="0" anchor="t"/>
          <a:lstStyle/>
          <a:p>
            <a:pPr indent="0" marL="0">
              <a:spcAft>
                <a:spcPts val="200"/>
              </a:spcAft>
              <a:buNone/>
            </a:pPr>
            <a:r>
              <a:rPr lang="en-US" sz="1300" b="1" dirty="0">
                <a:solidFill>
                  <a:srgbClr val="1A1A1A"/>
                </a:solidFill>
                <a:latin typeface="Arial" pitchFamily="34" charset="0"/>
                <a:ea typeface="Arial" pitchFamily="34" charset="-122"/>
                <a:cs typeface="Arial" pitchFamily="34" charset="-120"/>
              </a:rPr>
              <a:t>Calibration and metrics</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Platt recalibration on validation for every model. Test metrics: AUC, Gini, KS, Brier, decile calibration and PSI of the score between training and test.</a:t>
            </a:r>
            <a:endParaRPr lang="en-US" sz="1300" dirty="0"/>
          </a:p>
          <a:p>
            <a:pPr indent="0" marL="0">
              <a:spcAft>
                <a:spcPts val="200"/>
              </a:spcAft>
              <a:buNone/>
            </a:pPr>
            <a:r>
              <a:rPr lang="en-US" sz="1300" b="1" dirty="0">
                <a:solidFill>
                  <a:srgbClr val="1A1A1A"/>
                </a:solidFill>
                <a:latin typeface="Arial" pitchFamily="34" charset="0"/>
                <a:ea typeface="Arial" pitchFamily="34" charset="-122"/>
                <a:cs typeface="Arial" pitchFamily="34" charset="-120"/>
              </a:rPr>
              <a:t>P&amp;L</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Expected profit = principal x [(1 - PD) x G - PD x L - costs]. G by rate band and L = 35.9% from 2012-2014; costs = 4% funding x 1.30 years + 1% opex.</a:t>
            </a:r>
            <a:endParaRPr lang="en-US" sz="1300" dirty="0"/>
          </a:p>
          <a:p>
            <a:pPr indent="0" marL="0">
              <a:spcAft>
                <a:spcPts val="200"/>
              </a:spcAft>
              <a:buNone/>
            </a:pPr>
            <a:r>
              <a:rPr lang="en-US" sz="1300" b="1" dirty="0">
                <a:solidFill>
                  <a:srgbClr val="1A1A1A"/>
                </a:solidFill>
                <a:latin typeface="Arial" pitchFamily="34" charset="0"/>
                <a:ea typeface="Arial" pitchFamily="34" charset="-122"/>
                <a:cs typeface="Arial" pitchFamily="34" charset="-120"/>
              </a:rPr>
              <a:t>Policy choice</a:t>
            </a:r>
            <a:endParaRPr lang="en-US" sz="1300" dirty="0"/>
          </a:p>
          <a:p>
            <a:pPr indent="0" marL="0">
              <a:spcAft>
                <a:spcPts val="1000"/>
              </a:spcAft>
              <a:buNone/>
            </a:pPr>
            <a:r>
              <a:rPr lang="en-US" sz="1200" dirty="0">
                <a:solidFill>
                  <a:srgbClr val="52514E"/>
                </a:solidFill>
                <a:latin typeface="Arial" pitchFamily="34" charset="0"/>
                <a:ea typeface="Arial" pitchFamily="34" charset="-122"/>
                <a:cs typeface="Arial" pitchFamily="34" charset="-120"/>
              </a:rPr>
              <a:t>Cutoff maximises expected profit on Jan-Jun 2015 subject to approving at least 90% of applicants. Realized profit = cash received minus principal and costs on the test loans.</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E69"/>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Northvale Credit: loan approval policy</dc:title>
  <dc:subject>Fictional case study on public Lending Club data</dc:subject>
  <dc:creator>Ali Chamas</dc:creator>
  <cp:lastModifiedBy>Ali Chamas</cp:lastModifiedBy>
  <cp:revision>1</cp:revision>
  <dcterms:created xsi:type="dcterms:W3CDTF">2026-10-19T13:32:02Z</dcterms:created>
  <dcterms:modified xsi:type="dcterms:W3CDTF">2026-10-19T13:32:02Z</dcterms:modified>
</cp:coreProperties>
</file>